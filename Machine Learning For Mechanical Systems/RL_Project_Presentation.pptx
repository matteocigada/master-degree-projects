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86" r:id="rId2"/>
  </p:sldMasterIdLst>
  <p:notesMasterIdLst>
    <p:notesMasterId r:id="rId19"/>
  </p:notesMasterIdLst>
  <p:sldIdLst>
    <p:sldId id="270" r:id="rId3"/>
    <p:sldId id="291" r:id="rId4"/>
    <p:sldId id="295" r:id="rId5"/>
    <p:sldId id="302" r:id="rId6"/>
    <p:sldId id="298" r:id="rId7"/>
    <p:sldId id="299" r:id="rId8"/>
    <p:sldId id="301" r:id="rId9"/>
    <p:sldId id="315" r:id="rId10"/>
    <p:sldId id="304" r:id="rId11"/>
    <p:sldId id="305" r:id="rId12"/>
    <p:sldId id="309" r:id="rId13"/>
    <p:sldId id="311" r:id="rId14"/>
    <p:sldId id="310" r:id="rId15"/>
    <p:sldId id="312" r:id="rId16"/>
    <p:sldId id="313" r:id="rId17"/>
    <p:sldId id="314" r:id="rId18"/>
  </p:sldIdLst>
  <p:sldSz cx="12192000" cy="6858000"/>
  <p:notesSz cx="6858000" cy="9144000"/>
  <p:embeddedFontLst>
    <p:embeddedFont>
      <p:font typeface="Cambria Math" panose="02040503050406030204" pitchFamily="18" charset="0"/>
      <p:regular r:id="rId20"/>
    </p:embeddedFont>
    <p:embeddedFont>
      <p:font typeface="Manrope" pitchFamily="2" charset="0"/>
      <p:regular r:id="rId21"/>
      <p:bold r:id="rId22"/>
      <p:italic r:id="rId23"/>
      <p:boldItalic r:id="rId24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C53"/>
    <a:srgbClr val="F3F3F3"/>
    <a:srgbClr val="E3E6EB"/>
    <a:srgbClr val="D2D7DF"/>
    <a:srgbClr val="EAF3FB"/>
    <a:srgbClr val="F78629"/>
    <a:srgbClr val="009E73"/>
    <a:srgbClr val="586D8D"/>
    <a:srgbClr val="D55E00"/>
    <a:srgbClr val="2E4D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D7FEE2-976A-48AE-99FF-86CA64AB9955}" v="2576" dt="2026-07-14T11:45:02.270"/>
    <p1510:client id="{5D15411E-04EE-401E-A4A3-A04A894C649C}" v="3" dt="2026-07-14T09:16:58.0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Stile medio 4 - Color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Stile medio 4 - Color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FABFCF23-3B69-468F-B69F-88F6DE6A72F2}" styleName="Stile medio 1 - Color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0654" autoAdjust="0"/>
  </p:normalViewPr>
  <p:slideViewPr>
    <p:cSldViewPr snapToGrid="0" showGuides="1">
      <p:cViewPr varScale="1">
        <p:scale>
          <a:sx n="46" d="100"/>
          <a:sy n="46" d="100"/>
        </p:scale>
        <p:origin x="1992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Davi'" userId="129cde2b-8a79-4582-a3e7-583b427a8ef9" providerId="ADAL" clId="{DEDBD45B-012B-42E9-909A-45645DA7F5BA}"/>
    <pc:docChg chg="delSld modSld sldOrd">
      <pc:chgData name="Marco Davi'" userId="129cde2b-8a79-4582-a3e7-583b427a8ef9" providerId="ADAL" clId="{DEDBD45B-012B-42E9-909A-45645DA7F5BA}" dt="2026-07-14T12:13:15.490" v="20"/>
      <pc:docMkLst>
        <pc:docMk/>
      </pc:docMkLst>
      <pc:sldChg chg="ord modNotesTx">
        <pc:chgData name="Marco Davi'" userId="129cde2b-8a79-4582-a3e7-583b427a8ef9" providerId="ADAL" clId="{DEDBD45B-012B-42E9-909A-45645DA7F5BA}" dt="2026-07-14T12:13:15.490" v="20"/>
        <pc:sldMkLst>
          <pc:docMk/>
          <pc:sldMk cId="1554532727" sldId="270"/>
        </pc:sldMkLst>
      </pc:sldChg>
      <pc:sldChg chg="modNotesTx">
        <pc:chgData name="Marco Davi'" userId="129cde2b-8a79-4582-a3e7-583b427a8ef9" providerId="ADAL" clId="{DEDBD45B-012B-42E9-909A-45645DA7F5BA}" dt="2026-07-14T11:46:28.697" v="1" actId="20577"/>
        <pc:sldMkLst>
          <pc:docMk/>
          <pc:sldMk cId="3094115102" sldId="291"/>
        </pc:sldMkLst>
      </pc:sldChg>
      <pc:sldChg chg="modNotesTx">
        <pc:chgData name="Marco Davi'" userId="129cde2b-8a79-4582-a3e7-583b427a8ef9" providerId="ADAL" clId="{DEDBD45B-012B-42E9-909A-45645DA7F5BA}" dt="2026-07-14T11:46:31.061" v="2" actId="20577"/>
        <pc:sldMkLst>
          <pc:docMk/>
          <pc:sldMk cId="4243341576" sldId="295"/>
        </pc:sldMkLst>
      </pc:sldChg>
      <pc:sldChg chg="modNotesTx">
        <pc:chgData name="Marco Davi'" userId="129cde2b-8a79-4582-a3e7-583b427a8ef9" providerId="ADAL" clId="{DEDBD45B-012B-42E9-909A-45645DA7F5BA}" dt="2026-07-14T11:46:36.514" v="4" actId="20577"/>
        <pc:sldMkLst>
          <pc:docMk/>
          <pc:sldMk cId="642113328" sldId="298"/>
        </pc:sldMkLst>
      </pc:sldChg>
      <pc:sldChg chg="modNotesTx">
        <pc:chgData name="Marco Davi'" userId="129cde2b-8a79-4582-a3e7-583b427a8ef9" providerId="ADAL" clId="{DEDBD45B-012B-42E9-909A-45645DA7F5BA}" dt="2026-07-14T11:46:39.236" v="5" actId="20577"/>
        <pc:sldMkLst>
          <pc:docMk/>
          <pc:sldMk cId="748446502" sldId="299"/>
        </pc:sldMkLst>
      </pc:sldChg>
      <pc:sldChg chg="modNotesTx">
        <pc:chgData name="Marco Davi'" userId="129cde2b-8a79-4582-a3e7-583b427a8ef9" providerId="ADAL" clId="{DEDBD45B-012B-42E9-909A-45645DA7F5BA}" dt="2026-07-14T11:46:43.688" v="7" actId="5793"/>
        <pc:sldMkLst>
          <pc:docMk/>
          <pc:sldMk cId="1858700268" sldId="301"/>
        </pc:sldMkLst>
      </pc:sldChg>
      <pc:sldChg chg="modNotesTx">
        <pc:chgData name="Marco Davi'" userId="129cde2b-8a79-4582-a3e7-583b427a8ef9" providerId="ADAL" clId="{DEDBD45B-012B-42E9-909A-45645DA7F5BA}" dt="2026-07-14T11:46:34.362" v="3" actId="20577"/>
        <pc:sldMkLst>
          <pc:docMk/>
          <pc:sldMk cId="2706492364" sldId="302"/>
        </pc:sldMkLst>
      </pc:sldChg>
      <pc:sldChg chg="del">
        <pc:chgData name="Marco Davi'" userId="129cde2b-8a79-4582-a3e7-583b427a8ef9" providerId="ADAL" clId="{DEDBD45B-012B-42E9-909A-45645DA7F5BA}" dt="2026-07-14T11:46:48.222" v="8" actId="2696"/>
        <pc:sldMkLst>
          <pc:docMk/>
          <pc:sldMk cId="485344070" sldId="303"/>
        </pc:sldMkLst>
      </pc:sldChg>
      <pc:sldChg chg="modNotesTx">
        <pc:chgData name="Marco Davi'" userId="129cde2b-8a79-4582-a3e7-583b427a8ef9" providerId="ADAL" clId="{DEDBD45B-012B-42E9-909A-45645DA7F5BA}" dt="2026-07-14T11:47:03.127" v="11" actId="20577"/>
        <pc:sldMkLst>
          <pc:docMk/>
          <pc:sldMk cId="3922690393" sldId="304"/>
        </pc:sldMkLst>
      </pc:sldChg>
      <pc:sldChg chg="modNotesTx">
        <pc:chgData name="Marco Davi'" userId="129cde2b-8a79-4582-a3e7-583b427a8ef9" providerId="ADAL" clId="{DEDBD45B-012B-42E9-909A-45645DA7F5BA}" dt="2026-07-14T11:47:05.833" v="12" actId="20577"/>
        <pc:sldMkLst>
          <pc:docMk/>
          <pc:sldMk cId="842842399" sldId="305"/>
        </pc:sldMkLst>
      </pc:sldChg>
      <pc:sldChg chg="modNotesTx">
        <pc:chgData name="Marco Davi'" userId="129cde2b-8a79-4582-a3e7-583b427a8ef9" providerId="ADAL" clId="{DEDBD45B-012B-42E9-909A-45645DA7F5BA}" dt="2026-07-14T11:47:11.566" v="13" actId="20577"/>
        <pc:sldMkLst>
          <pc:docMk/>
          <pc:sldMk cId="888312770" sldId="309"/>
        </pc:sldMkLst>
      </pc:sldChg>
      <pc:sldChg chg="modNotesTx">
        <pc:chgData name="Marco Davi'" userId="129cde2b-8a79-4582-a3e7-583b427a8ef9" providerId="ADAL" clId="{DEDBD45B-012B-42E9-909A-45645DA7F5BA}" dt="2026-07-14T11:47:16.325" v="15" actId="20577"/>
        <pc:sldMkLst>
          <pc:docMk/>
          <pc:sldMk cId="892099436" sldId="310"/>
        </pc:sldMkLst>
      </pc:sldChg>
      <pc:sldChg chg="modNotesTx">
        <pc:chgData name="Marco Davi'" userId="129cde2b-8a79-4582-a3e7-583b427a8ef9" providerId="ADAL" clId="{DEDBD45B-012B-42E9-909A-45645DA7F5BA}" dt="2026-07-14T11:47:13.778" v="14" actId="20577"/>
        <pc:sldMkLst>
          <pc:docMk/>
          <pc:sldMk cId="3735627566" sldId="311"/>
        </pc:sldMkLst>
      </pc:sldChg>
      <pc:sldChg chg="modNotesTx">
        <pc:chgData name="Marco Davi'" userId="129cde2b-8a79-4582-a3e7-583b427a8ef9" providerId="ADAL" clId="{DEDBD45B-012B-42E9-909A-45645DA7F5BA}" dt="2026-07-14T11:47:18.965" v="16" actId="20577"/>
        <pc:sldMkLst>
          <pc:docMk/>
          <pc:sldMk cId="3122688101" sldId="312"/>
        </pc:sldMkLst>
      </pc:sldChg>
      <pc:sldChg chg="modNotesTx">
        <pc:chgData name="Marco Davi'" userId="129cde2b-8a79-4582-a3e7-583b427a8ef9" providerId="ADAL" clId="{DEDBD45B-012B-42E9-909A-45645DA7F5BA}" dt="2026-07-14T11:47:20.943" v="17" actId="20577"/>
        <pc:sldMkLst>
          <pc:docMk/>
          <pc:sldMk cId="3392666483" sldId="313"/>
        </pc:sldMkLst>
      </pc:sldChg>
      <pc:sldChg chg="modNotesTx">
        <pc:chgData name="Marco Davi'" userId="129cde2b-8a79-4582-a3e7-583b427a8ef9" providerId="ADAL" clId="{DEDBD45B-012B-42E9-909A-45645DA7F5BA}" dt="2026-07-14T11:47:23.508" v="18" actId="20577"/>
        <pc:sldMkLst>
          <pc:docMk/>
          <pc:sldMk cId="2174820370" sldId="314"/>
        </pc:sldMkLst>
      </pc:sldChg>
      <pc:sldChg chg="modNotesTx">
        <pc:chgData name="Marco Davi'" userId="129cde2b-8a79-4582-a3e7-583b427a8ef9" providerId="ADAL" clId="{DEDBD45B-012B-42E9-909A-45645DA7F5BA}" dt="2026-07-14T11:46:53.246" v="10" actId="5793"/>
        <pc:sldMkLst>
          <pc:docMk/>
          <pc:sldMk cId="4243952613" sldId="31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Mean Final Accuracy&gt;5mm</c:v>
                </c:pt>
              </c:strCache>
            </c:strRef>
          </c:tx>
          <c:spPr>
            <a:solidFill>
              <a:srgbClr val="102C53"/>
            </a:solidFill>
            <a:ln>
              <a:noFill/>
            </a:ln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fld id="{665D1AAF-3A31-4CB2-BC89-3B2D87FCA77D}" type="VALUE">
                      <a:rPr lang="en-US" b="1">
                        <a:solidFill>
                          <a:srgbClr val="009E73"/>
                        </a:solidFill>
                      </a:rPr>
                      <a:pPr/>
                      <a:t>[VALORE]</a:t>
                    </a:fld>
                    <a:endParaRPr lang="en-GB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D094-48E8-9221-1435976D446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Foglio1!$A$2:$A$5</c:f>
              <c:strCache>
                <c:ptCount val="4"/>
                <c:pt idx="0">
                  <c:v>Baseline</c:v>
                </c:pt>
                <c:pt idx="1">
                  <c:v>BO_008</c:v>
                </c:pt>
                <c:pt idx="2">
                  <c:v>BO_014</c:v>
                </c:pt>
                <c:pt idx="3">
                  <c:v>BO_018</c:v>
                </c:pt>
              </c:strCache>
            </c:strRef>
          </c:cat>
          <c:val>
            <c:numRef>
              <c:f>Foglio1!$B$2:$B$5</c:f>
              <c:numCache>
                <c:formatCode>General</c:formatCode>
                <c:ptCount val="4"/>
                <c:pt idx="0">
                  <c:v>93.44</c:v>
                </c:pt>
                <c:pt idx="1">
                  <c:v>97.33</c:v>
                </c:pt>
                <c:pt idx="2">
                  <c:v>99.78</c:v>
                </c:pt>
                <c:pt idx="3">
                  <c:v>98.89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12-4038-8871-2F861C1B9E53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Std. Deviation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Foglio1!$A$2:$A$5</c:f>
              <c:strCache>
                <c:ptCount val="4"/>
                <c:pt idx="0">
                  <c:v>Baseline</c:v>
                </c:pt>
                <c:pt idx="1">
                  <c:v>BO_008</c:v>
                </c:pt>
                <c:pt idx="2">
                  <c:v>BO_014</c:v>
                </c:pt>
                <c:pt idx="3">
                  <c:v>BO_018</c:v>
                </c:pt>
              </c:strCache>
            </c:strRef>
          </c:cat>
          <c:val>
            <c:numRef>
              <c:f>Foglio1!$C$2:$C$5</c:f>
              <c:numCache>
                <c:formatCode>General</c:formatCode>
                <c:ptCount val="4"/>
                <c:pt idx="0">
                  <c:v>8.66</c:v>
                </c:pt>
                <c:pt idx="1">
                  <c:v>4.7699999999999996</c:v>
                </c:pt>
                <c:pt idx="2">
                  <c:v>1.56</c:v>
                </c:pt>
                <c:pt idx="3">
                  <c:v>3.35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12-4038-8871-2F861C1B9E53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Worst Episode Accuracy</c:v>
                </c:pt>
              </c:strCache>
            </c:strRef>
          </c:tx>
          <c:spPr>
            <a:solidFill>
              <a:srgbClr val="F7862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Foglio1!$A$2:$A$5</c:f>
              <c:strCache>
                <c:ptCount val="4"/>
                <c:pt idx="0">
                  <c:v>Baseline</c:v>
                </c:pt>
                <c:pt idx="1">
                  <c:v>BO_008</c:v>
                </c:pt>
                <c:pt idx="2">
                  <c:v>BO_014</c:v>
                </c:pt>
                <c:pt idx="3">
                  <c:v>BO_018</c:v>
                </c:pt>
              </c:strCache>
            </c:strRef>
          </c:cat>
          <c:val>
            <c:numRef>
              <c:f>Foglio1!$D$2:$D$5</c:f>
              <c:numCache>
                <c:formatCode>General</c:formatCode>
                <c:ptCount val="4"/>
                <c:pt idx="0">
                  <c:v>66.67</c:v>
                </c:pt>
                <c:pt idx="1">
                  <c:v>88.89</c:v>
                </c:pt>
                <c:pt idx="2">
                  <c:v>88.89</c:v>
                </c:pt>
                <c:pt idx="3">
                  <c:v>88.89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C12-4038-8871-2F861C1B9E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64419295"/>
        <c:axId val="1058400879"/>
      </c:barChart>
      <c:catAx>
        <c:axId val="1064419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58400879"/>
        <c:crosses val="autoZero"/>
        <c:auto val="1"/>
        <c:lblAlgn val="ctr"/>
        <c:lblOffset val="100"/>
        <c:noMultiLvlLbl val="0"/>
      </c:catAx>
      <c:valAx>
        <c:axId val="1058400879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644192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Mean Final Accuracy</c:v>
                </c:pt>
              </c:strCache>
            </c:strRef>
          </c:tx>
          <c:spPr>
            <a:solidFill>
              <a:srgbClr val="102C5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3.93725198412698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599-407F-9F8A-C4BBB8F058D8}"/>
                </c:ext>
              </c:extLst>
            </c:dLbl>
            <c:dLbl>
              <c:idx val="1"/>
              <c:layout>
                <c:manualLayout>
                  <c:x val="0"/>
                  <c:y val="3.937251984126977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599-407F-9F8A-C4BBB8F058D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0" rIns="0" bIns="0" anchor="ctr" anchorCtr="0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Foglio1!$A$2:$A$5</c:f>
              <c:numCache>
                <c:formatCode>General</c:formatCode>
                <c:ptCount val="4"/>
                <c:pt idx="0">
                  <c:v>1</c:v>
                </c:pt>
                <c:pt idx="1">
                  <c:v>270632</c:v>
                </c:pt>
                <c:pt idx="2">
                  <c:v>278468</c:v>
                </c:pt>
                <c:pt idx="3">
                  <c:v>287102</c:v>
                </c:pt>
              </c:numCache>
            </c:numRef>
          </c:cat>
          <c:val>
            <c:numRef>
              <c:f>Foglio1!$B$2:$B$5</c:f>
              <c:numCache>
                <c:formatCode>General</c:formatCode>
                <c:ptCount val="4"/>
                <c:pt idx="0">
                  <c:v>99.67</c:v>
                </c:pt>
                <c:pt idx="1">
                  <c:v>99.78</c:v>
                </c:pt>
                <c:pt idx="2">
                  <c:v>96.67</c:v>
                </c:pt>
                <c:pt idx="3">
                  <c:v>95.33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99-407F-9F8A-C4BBB8F058D8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Std. Deviation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Foglio1!$A$2:$A$5</c:f>
              <c:numCache>
                <c:formatCode>General</c:formatCode>
                <c:ptCount val="4"/>
                <c:pt idx="0">
                  <c:v>1</c:v>
                </c:pt>
                <c:pt idx="1">
                  <c:v>270632</c:v>
                </c:pt>
                <c:pt idx="2">
                  <c:v>278468</c:v>
                </c:pt>
                <c:pt idx="3">
                  <c:v>287102</c:v>
                </c:pt>
              </c:numCache>
            </c:numRef>
          </c:cat>
          <c:val>
            <c:numRef>
              <c:f>Foglio1!$C$2:$C$5</c:f>
              <c:numCache>
                <c:formatCode>General</c:formatCode>
                <c:ptCount val="4"/>
                <c:pt idx="0">
                  <c:v>1.9</c:v>
                </c:pt>
                <c:pt idx="1">
                  <c:v>1.56</c:v>
                </c:pt>
                <c:pt idx="2">
                  <c:v>6.01</c:v>
                </c:pt>
                <c:pt idx="3">
                  <c:v>6.55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99-407F-9F8A-C4BBB8F058D8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Worst Episode Accuracy</c:v>
                </c:pt>
              </c:strCache>
            </c:strRef>
          </c:tx>
          <c:spPr>
            <a:solidFill>
              <a:srgbClr val="F7862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Foglio1!$A$2:$A$5</c:f>
              <c:numCache>
                <c:formatCode>General</c:formatCode>
                <c:ptCount val="4"/>
                <c:pt idx="0">
                  <c:v>1</c:v>
                </c:pt>
                <c:pt idx="1">
                  <c:v>270632</c:v>
                </c:pt>
                <c:pt idx="2">
                  <c:v>278468</c:v>
                </c:pt>
                <c:pt idx="3">
                  <c:v>287102</c:v>
                </c:pt>
              </c:numCache>
            </c:numRef>
          </c:cat>
          <c:val>
            <c:numRef>
              <c:f>Foglio1!$D$2:$D$5</c:f>
              <c:numCache>
                <c:formatCode>General</c:formatCode>
                <c:ptCount val="4"/>
                <c:pt idx="0">
                  <c:v>88.89</c:v>
                </c:pt>
                <c:pt idx="1">
                  <c:v>88.89</c:v>
                </c:pt>
                <c:pt idx="2">
                  <c:v>77.78</c:v>
                </c:pt>
                <c:pt idx="3">
                  <c:v>77.78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599-407F-9F8A-C4BBB8F058D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773365887"/>
        <c:axId val="1290141327"/>
      </c:barChart>
      <c:catAx>
        <c:axId val="17733658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290141327"/>
        <c:crosses val="autoZero"/>
        <c:auto val="1"/>
        <c:lblAlgn val="ctr"/>
        <c:lblOffset val="100"/>
        <c:noMultiLvlLbl val="0"/>
      </c:catAx>
      <c:valAx>
        <c:axId val="1290141327"/>
        <c:scaling>
          <c:orientation val="minMax"/>
          <c:max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773365887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2581711800476586"/>
          <c:y val="0.8615877740377903"/>
          <c:w val="0.81451458185937697"/>
          <c:h val="8.853117993846457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2F874-A982-4EC3-BD4B-BD59E32C66C1}" type="datetimeFigureOut">
              <a:rPr lang="it-IT" smtClean="0"/>
              <a:t>14/07/2026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62F2E-6FDF-4A6B-AB76-08EC33B125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7886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7281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7889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9917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2008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1391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3794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1341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0127B-14E8-8A28-4692-31FFDB06F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84DE067-F211-5F0A-35FE-AACCC6DF1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4507172-D9DE-F843-A2F1-98DF95363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en-GB" dirty="0">
              <a:sym typeface="Symbol" panose="05050102010706020507" pitchFamily="18" charset="2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13307AA-9B42-EFB8-676D-841C1FC257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70771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79CDA-61E3-7194-75D3-62DAC46E9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E4FF402-059E-B07D-4D81-8351901B4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B8E2823-66AC-5A3D-F791-5830EBABF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it-IT" dirty="0">
              <a:sym typeface="Symbol" panose="05050102010706020507" pitchFamily="18" charset="2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78EA79D-6059-7C2E-D89E-AD69A61C3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7199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9B136-E5B6-1BD0-DA39-504032B84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385B058-EFEE-5065-E785-EC05D02DB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480FB55-386A-13BE-C8DA-B48D0E757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sym typeface="Symbol" panose="05050102010706020507" pitchFamily="18" charset="2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32B100A-57E9-7A43-DAFF-035EF1FBF0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23511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15713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2877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09869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82004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66279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73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_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0933319C-8AC5-4764-9981-AEA331D30C57}"/>
              </a:ext>
            </a:extLst>
          </p:cNvPr>
          <p:cNvSpPr/>
          <p:nvPr userDrawn="1"/>
        </p:nvSpPr>
        <p:spPr>
          <a:xfrm>
            <a:off x="0" y="0"/>
            <a:ext cx="285591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847A823-6861-4ED7-916A-EB4BF5CE6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08073"/>
            <a:ext cx="2163688" cy="1252502"/>
          </a:xfrm>
        </p:spPr>
        <p:txBody>
          <a:bodyPr/>
          <a:lstStyle>
            <a:lvl1pPr>
              <a:defRPr sz="28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86D3BA3-83F0-4C02-8636-ACA6EA9D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15/07/2026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CB1FEA7-7590-4AD0-A0B1-48092069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PPO-Based Control of an Active Motion Surface for Parcel Singulation</a:t>
            </a:r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5199BD-4F67-4AA1-A795-95C0BF54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67325048-9832-400A-BAC7-02B5977E3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343752"/>
            <a:ext cx="2163762" cy="414594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2AF746B8-16B5-4251-938A-CD03C89D3C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16276" y="2060575"/>
            <a:ext cx="8640762" cy="4429125"/>
          </a:xfrm>
        </p:spPr>
        <p:txBody>
          <a:bodyPr/>
          <a:lstStyle>
            <a:lvl1pPr marL="342900" indent="-342900">
              <a:buFont typeface="+mj-lt"/>
              <a:buAutoNum type="arabicPeriod"/>
              <a:defRPr sz="2000" b="1">
                <a:solidFill>
                  <a:schemeClr val="tx2"/>
                </a:solidFill>
              </a:defRPr>
            </a:lvl1pPr>
            <a:lvl2pPr marL="360000" indent="0">
              <a:buFont typeface="+mj-lt"/>
              <a:buNone/>
              <a:defRPr sz="1600"/>
            </a:lvl2pPr>
            <a:lvl3pPr marL="1257300" indent="-3429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it-IT"/>
              <a:t>Titolo Sezione</a:t>
            </a:r>
          </a:p>
          <a:p>
            <a:pPr lvl="1"/>
            <a:r>
              <a:rPr lang="it-IT"/>
              <a:t>Titolo Capitolo</a:t>
            </a:r>
          </a:p>
          <a:p>
            <a:pPr lvl="1"/>
            <a:r>
              <a:rPr lang="it-IT"/>
              <a:t>Titolo Capitolo</a:t>
            </a:r>
          </a:p>
          <a:p>
            <a:pPr lvl="1"/>
            <a:endParaRPr lang="it-IT"/>
          </a:p>
          <a:p>
            <a:pPr lvl="0"/>
            <a:r>
              <a:rPr lang="it-IT"/>
              <a:t>Titolo Sezione</a:t>
            </a:r>
          </a:p>
          <a:p>
            <a:pPr lvl="1"/>
            <a:r>
              <a:rPr lang="it-IT"/>
              <a:t>Titolo Capitolo</a:t>
            </a:r>
          </a:p>
          <a:p>
            <a:pPr lvl="1"/>
            <a:r>
              <a:rPr lang="it-IT"/>
              <a:t>Titolo Capitolo</a:t>
            </a:r>
          </a:p>
          <a:p>
            <a:pPr lvl="1"/>
            <a:endParaRPr lang="it-IT"/>
          </a:p>
          <a:p>
            <a:pPr lvl="0"/>
            <a:r>
              <a:rPr lang="it-IT"/>
              <a:t>Titolo Sezione</a:t>
            </a:r>
          </a:p>
          <a:p>
            <a:pPr lvl="1"/>
            <a:r>
              <a:rPr lang="it-IT"/>
              <a:t>Titolo Capitolo</a:t>
            </a:r>
          </a:p>
          <a:p>
            <a:pPr lvl="1"/>
            <a:r>
              <a:rPr lang="it-IT"/>
              <a:t>Titolo Capitolo</a:t>
            </a:r>
          </a:p>
          <a:p>
            <a:pPr lvl="1"/>
            <a:endParaRPr lang="it-IT"/>
          </a:p>
          <a:p>
            <a:pPr lvl="1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0479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io_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e 10">
            <a:extLst>
              <a:ext uri="{FF2B5EF4-FFF2-40B4-BE49-F238E27FC236}">
                <a16:creationId xmlns:a16="http://schemas.microsoft.com/office/drawing/2014/main" id="{35E14663-8764-4DCE-B9CB-7C9A4CEA9BB5}"/>
              </a:ext>
            </a:extLst>
          </p:cNvPr>
          <p:cNvSpPr/>
          <p:nvPr userDrawn="1"/>
        </p:nvSpPr>
        <p:spPr>
          <a:xfrm rot="6083929">
            <a:off x="1311375" y="1414011"/>
            <a:ext cx="10887270" cy="10887979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>
              <a:latin typeface="Manrope" pitchFamily="2" charset="0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1418313"/>
            <a:ext cx="8640763" cy="1299008"/>
          </a:xfrm>
        </p:spPr>
        <p:txBody>
          <a:bodyPr anchor="ctr"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it-IT"/>
              <a:t>Titolo del divisorio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7C40DD1-2473-433A-86AF-A19E5D1C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PPO-Based Control of an Active Motion Surface for Parcel Singulation</a:t>
            </a:r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5E4E6DD-3673-45F3-B980-656947B0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1418312"/>
            <a:ext cx="1284270" cy="128427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1418312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2717320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4D2183DA-6999-4DF4-AE0B-EDCD20466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65931" y="3961597"/>
            <a:ext cx="3091107" cy="2359025"/>
          </a:xfrm>
        </p:spPr>
        <p:txBody>
          <a:bodyPr anchor="b">
            <a:normAutofit/>
          </a:bodyPr>
          <a:lstStyle>
            <a:lvl1pPr algn="r">
              <a:defRPr sz="96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051853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io_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1418313"/>
            <a:ext cx="8640763" cy="1284268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Titolo del divisorio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E134B4D-D1C6-403C-87F8-32776FD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15/07/2026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7C40DD1-2473-433A-86AF-A19E5D1C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PPO-Based Control of an Active Motion Surface for Parcel Singulation</a:t>
            </a:r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5E4E6DD-3673-45F3-B980-656947B0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1418312"/>
            <a:ext cx="1284270" cy="1284270"/>
          </a:xfrm>
          <a:prstGeom prst="ellipse">
            <a:avLst/>
          </a:prstGeom>
          <a:noFill/>
          <a:ln w="9525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141831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271732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4D2183DA-6999-4DF4-AE0B-EDCD20466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20808" y="3961597"/>
            <a:ext cx="3636230" cy="2359025"/>
          </a:xfrm>
        </p:spPr>
        <p:txBody>
          <a:bodyPr anchor="b">
            <a:normAutofit/>
          </a:bodyPr>
          <a:lstStyle>
            <a:lvl1pPr algn="r">
              <a:defRPr sz="96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557231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finale_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e 9">
            <a:extLst>
              <a:ext uri="{FF2B5EF4-FFF2-40B4-BE49-F238E27FC236}">
                <a16:creationId xmlns:a16="http://schemas.microsoft.com/office/drawing/2014/main" id="{29206C3E-8262-4BAC-A209-F4327335E1F0}"/>
              </a:ext>
            </a:extLst>
          </p:cNvPr>
          <p:cNvSpPr/>
          <p:nvPr userDrawn="1"/>
        </p:nvSpPr>
        <p:spPr>
          <a:xfrm rot="11483929">
            <a:off x="1293786" y="-5274490"/>
            <a:ext cx="10887270" cy="10887979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>
              <a:latin typeface="Manrope" pitchFamily="2" charset="0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4295077"/>
            <a:ext cx="8640763" cy="1299008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Chiusura / Ringraziamenti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4295076"/>
            <a:ext cx="1284270" cy="128427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4295076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5594084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e 10">
            <a:extLst>
              <a:ext uri="{FF2B5EF4-FFF2-40B4-BE49-F238E27FC236}">
                <a16:creationId xmlns:a16="http://schemas.microsoft.com/office/drawing/2014/main" id="{E4786A85-B23B-420C-9463-CF262A126A21}"/>
              </a:ext>
            </a:extLst>
          </p:cNvPr>
          <p:cNvSpPr/>
          <p:nvPr userDrawn="1"/>
        </p:nvSpPr>
        <p:spPr>
          <a:xfrm rot="11483929">
            <a:off x="652366" y="5545716"/>
            <a:ext cx="10887270" cy="10887979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>
              <a:latin typeface="Manrop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77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finale_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4295077"/>
            <a:ext cx="8640763" cy="1299008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Chiusura / Ringraziamenti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4295076"/>
            <a:ext cx="1284270" cy="128427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4295076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5594084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493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 test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08073"/>
            <a:ext cx="8640000" cy="840083"/>
          </a:xfrm>
        </p:spPr>
        <p:txBody>
          <a:bodyPr/>
          <a:lstStyle>
            <a:lvl1pPr>
              <a:defRPr sz="28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15/07/2026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PPO-Based Control of an Active Motion Surface for Parcel Singulation</a:t>
            </a:r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11075786" cy="4429125"/>
          </a:xfrm>
        </p:spPr>
        <p:txBody>
          <a:bodyPr/>
          <a:lstStyle>
            <a:lvl1pPr>
              <a:defRPr sz="1800"/>
            </a:lvl1pPr>
          </a:lstStyle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876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 testo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11522075" cy="840083"/>
          </a:xfrm>
        </p:spPr>
        <p:txBody>
          <a:bodyPr/>
          <a:lstStyle>
            <a:lvl1pPr>
              <a:defRPr sz="2800"/>
            </a:lvl1pPr>
          </a:lstStyle>
          <a:p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PPO-Based Control of an Active Motion Surface for Parcel Singulation</a:t>
            </a:r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5330113" cy="4429125"/>
          </a:xfrm>
        </p:spPr>
        <p:txBody>
          <a:bodyPr/>
          <a:lstStyle>
            <a:lvl1pPr>
              <a:defRPr sz="1800"/>
            </a:lvl1pPr>
          </a:lstStyle>
          <a:p>
            <a:pPr lvl="0"/>
            <a:endParaRPr lang="it-IT"/>
          </a:p>
        </p:txBody>
      </p:sp>
      <p:sp>
        <p:nvSpPr>
          <p:cNvPr id="10" name="Segnaposto testo 6">
            <a:extLst>
              <a:ext uri="{FF2B5EF4-FFF2-40B4-BE49-F238E27FC236}">
                <a16:creationId xmlns:a16="http://schemas.microsoft.com/office/drawing/2014/main" id="{A91EDD17-1F39-46F2-A6AE-0DA93D9DE7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3549" y="2060575"/>
            <a:ext cx="5330113" cy="4429125"/>
          </a:xfrm>
        </p:spPr>
        <p:txBody>
          <a:bodyPr/>
          <a:lstStyle>
            <a:lvl1pPr>
              <a:defRPr sz="1800"/>
            </a:lvl1pPr>
          </a:lstStyle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809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 testo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11522075" cy="840083"/>
          </a:xfrm>
        </p:spPr>
        <p:txBody>
          <a:bodyPr/>
          <a:lstStyle>
            <a:lvl1pPr>
              <a:defRPr sz="2800"/>
            </a:lvl1pPr>
          </a:lstStyle>
          <a:p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PPO-Based Control of an Active Motion Surface for Parcel Singulation</a:t>
            </a:r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6275" y="2060575"/>
            <a:ext cx="8640762" cy="4429125"/>
          </a:xfrm>
        </p:spPr>
        <p:txBody>
          <a:bodyPr/>
          <a:lstStyle>
            <a:lvl1pPr>
              <a:defRPr sz="1800"/>
            </a:lvl1pPr>
          </a:lstStyle>
          <a:p>
            <a:pPr lvl="0"/>
            <a:endParaRPr lang="it-IT"/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E3A4E093-361F-4C37-B47B-B067A8415F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4" y="2060575"/>
            <a:ext cx="2601668" cy="4429125"/>
          </a:xfrm>
        </p:spPr>
        <p:txBody>
          <a:bodyPr/>
          <a:lstStyle>
            <a:lvl1pPr marL="342900" indent="-342900">
              <a:buAutoNum type="arabicPeriod"/>
              <a:defRPr sz="1600" b="1"/>
            </a:lvl1pPr>
          </a:lstStyle>
          <a:p>
            <a:pPr lvl="0"/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endParaRPr lang="it-IT"/>
          </a:p>
          <a:p>
            <a:pPr lvl="0"/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endParaRPr lang="it-IT"/>
          </a:p>
          <a:p>
            <a:pPr lvl="0"/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0807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Ogget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11522075" cy="84008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5458E8-0508-42CF-A7E2-ABE84A714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2060576"/>
            <a:ext cx="11522075" cy="4146550"/>
          </a:xfrm>
          <a:noFill/>
        </p:spPr>
        <p:txBody>
          <a:bodyPr/>
          <a:lstStyle>
            <a:lvl1pPr>
              <a:defRPr sz="1800"/>
            </a:lvl1pPr>
          </a:lstStyle>
          <a:p>
            <a:pPr lvl="0"/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PPO-Based Control of an Active Motion Surface for Parcel Singulation</a:t>
            </a: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‹N›</a:t>
            </a:fld>
            <a:endParaRPr lang="it-IT"/>
          </a:p>
        </p:txBody>
      </p:sp>
      <p:sp>
        <p:nvSpPr>
          <p:cNvPr id="7" name="Segnaposto testo 11">
            <a:extLst>
              <a:ext uri="{FF2B5EF4-FFF2-40B4-BE49-F238E27FC236}">
                <a16:creationId xmlns:a16="http://schemas.microsoft.com/office/drawing/2014/main" id="{6924BD38-C241-45AE-9D16-9EE806C407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962" y="6207125"/>
            <a:ext cx="11522076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7021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colonna _ testo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0933319C-8AC5-4764-9981-AEA331D30C57}"/>
              </a:ext>
            </a:extLst>
          </p:cNvPr>
          <p:cNvSpPr/>
          <p:nvPr userDrawn="1"/>
        </p:nvSpPr>
        <p:spPr>
          <a:xfrm>
            <a:off x="0" y="0"/>
            <a:ext cx="285591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847A823-6861-4ED7-916A-EB4BF5CE6D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808073"/>
            <a:ext cx="2163688" cy="840083"/>
          </a:xfrm>
        </p:spPr>
        <p:txBody>
          <a:bodyPr/>
          <a:lstStyle>
            <a:lvl1pPr>
              <a:defRPr sz="2800"/>
            </a:lvl1pPr>
          </a:lstStyle>
          <a:p>
            <a:r>
              <a:rPr lang="it-IT"/>
              <a:t>Inserire 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86D3BA3-83F0-4C02-8636-ACA6EA9D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15/07/2026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CB1FEA7-7590-4AD0-A0B1-48092069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PPO-Based Control of an Active Motion Surface for Parcel Singulation</a:t>
            </a:r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5199BD-4F67-4AA1-A795-95C0BF54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67325048-9832-400A-BAC7-02B5977E3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163762" cy="44291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1C0D3E2E-2AFC-47C5-ADBC-3E40FCEC1C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16275" y="2060575"/>
            <a:ext cx="8640763" cy="44291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1598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colonna _ oggetto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0933319C-8AC5-4764-9981-AEA331D30C57}"/>
              </a:ext>
            </a:extLst>
          </p:cNvPr>
          <p:cNvSpPr/>
          <p:nvPr userDrawn="1"/>
        </p:nvSpPr>
        <p:spPr>
          <a:xfrm>
            <a:off x="0" y="0"/>
            <a:ext cx="285591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847A823-6861-4ED7-916A-EB4BF5CE6D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808073"/>
            <a:ext cx="2163688" cy="840083"/>
          </a:xfrm>
        </p:spPr>
        <p:txBody>
          <a:bodyPr/>
          <a:lstStyle>
            <a:lvl1pPr>
              <a:defRPr sz="2800"/>
            </a:lvl1pPr>
          </a:lstStyle>
          <a:p>
            <a:r>
              <a:rPr lang="it-IT"/>
              <a:t>Inserire 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86D3BA3-83F0-4C02-8636-ACA6EA9D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15/07/2026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CB1FEA7-7590-4AD0-A0B1-48092069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PPO-Based Control of an Active Motion Surface for Parcel Singulation</a:t>
            </a:r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5199BD-4F67-4AA1-A795-95C0BF54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67325048-9832-400A-BAC7-02B5977E3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163762" cy="44291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/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9B8341C8-2CFC-44BF-90C6-72E69DB8889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16275" y="2060575"/>
            <a:ext cx="8640762" cy="3997325"/>
          </a:xfrm>
          <a:noFill/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B32F2C4-840A-465D-B8D3-9DE2BF3FC6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16275" y="6207125"/>
            <a:ext cx="5232400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3577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sfondo colore _ oggetto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11522075" cy="84008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5458E8-0508-42CF-A7E2-ABE84A714D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963" y="2060576"/>
            <a:ext cx="11522075" cy="4146550"/>
          </a:xfrm>
          <a:noFill/>
        </p:spPr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Inserire testo / oggetto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15/07/2026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PPO-Based Control of an Active Motion Surface for Parcel Singulation</a:t>
            </a: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‹N›</a:t>
            </a:fld>
            <a:endParaRPr lang="it-IT"/>
          </a:p>
        </p:txBody>
      </p:sp>
      <p:sp>
        <p:nvSpPr>
          <p:cNvPr id="7" name="Segnaposto testo 11">
            <a:extLst>
              <a:ext uri="{FF2B5EF4-FFF2-40B4-BE49-F238E27FC236}">
                <a16:creationId xmlns:a16="http://schemas.microsoft.com/office/drawing/2014/main" id="{8E2D0317-6708-4FD8-83CC-23BC5CFD3B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962" y="6207125"/>
            <a:ext cx="5232400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6660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immagine _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858C886A-46B2-4CBC-A989-B9F302647C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20316" y="0"/>
            <a:ext cx="6471684" cy="6489700"/>
          </a:xfrm>
          <a:noFill/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5034479" cy="84008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15/07/2026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PPO-Based Control of an Active Motion Surface for Parcel Singulation</a:t>
            </a: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‹N›</a:t>
            </a:fld>
            <a:endParaRPr lang="it-IT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3E84B02-C61F-4F06-B7D2-53B3863108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060575"/>
            <a:ext cx="5106987" cy="4429125"/>
          </a:xfrm>
        </p:spPr>
        <p:txBody>
          <a:bodyPr/>
          <a:lstStyle>
            <a:lvl1pPr>
              <a:defRPr sz="1800"/>
            </a:lvl1pPr>
          </a:lstStyle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22925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immagine _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BF578AB8-DC96-4BF4-9F97-D7DA508CF3E9}"/>
              </a:ext>
            </a:extLst>
          </p:cNvPr>
          <p:cNvSpPr/>
          <p:nvPr userDrawn="1"/>
        </p:nvSpPr>
        <p:spPr>
          <a:xfrm>
            <a:off x="0" y="0"/>
            <a:ext cx="2855913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858C886A-46B2-4CBC-A989-B9F302647C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6120" y="812652"/>
            <a:ext cx="4355183" cy="5677048"/>
          </a:xfrm>
          <a:noFill/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5192" y="812652"/>
            <a:ext cx="6021846" cy="84008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15/07/2026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PPO-Based Control of an Active Motion Surface for Parcel Singulation</a:t>
            </a: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4BEA68D2-13D7-4E83-8B67-3B7D4B3EB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35192" y="2060575"/>
            <a:ext cx="6021846" cy="442912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518515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didascalia 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6696458" cy="84008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15/07/2026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PPO-Based Control of an Active Motion Surface for Parcel Singulation</a:t>
            </a: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‹N›</a:t>
            </a:fld>
            <a:endParaRPr lang="it-IT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3E84B02-C61F-4F06-B7D2-53B3863108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060575"/>
            <a:ext cx="6696458" cy="4429125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9" name="Segnaposto testo 11">
            <a:extLst>
              <a:ext uri="{FF2B5EF4-FFF2-40B4-BE49-F238E27FC236}">
                <a16:creationId xmlns:a16="http://schemas.microsoft.com/office/drawing/2014/main" id="{44C15745-FE91-4F85-912A-DE21BA99A8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31074" y="6207125"/>
            <a:ext cx="4525963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  <p:sp>
        <p:nvSpPr>
          <p:cNvPr id="13" name="Segnaposto contenuto 10">
            <a:extLst>
              <a:ext uri="{FF2B5EF4-FFF2-40B4-BE49-F238E27FC236}">
                <a16:creationId xmlns:a16="http://schemas.microsoft.com/office/drawing/2014/main" id="{981C075B-AD13-4CF1-8E6F-EFDE96C167B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331075" y="800100"/>
            <a:ext cx="4525963" cy="5407025"/>
          </a:xfrm>
          <a:noFill/>
        </p:spPr>
        <p:txBody>
          <a:bodyPr/>
          <a:lstStyle/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3932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didascalia 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6696458" cy="84008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15/07/2026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PPO-Based Control of an Active Motion Surface for Parcel Singulation</a:t>
            </a: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‹N›</a:t>
            </a:fld>
            <a:endParaRPr lang="it-IT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3E84B02-C61F-4F06-B7D2-53B3863108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2" y="2060575"/>
            <a:ext cx="6696457" cy="4429125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9" name="Segnaposto testo 11">
            <a:extLst>
              <a:ext uri="{FF2B5EF4-FFF2-40B4-BE49-F238E27FC236}">
                <a16:creationId xmlns:a16="http://schemas.microsoft.com/office/drawing/2014/main" id="{44C15745-FE91-4F85-912A-DE21BA99A8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31074" y="6207125"/>
            <a:ext cx="4525963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  <p:sp>
        <p:nvSpPr>
          <p:cNvPr id="14" name="Segnaposto testo 11">
            <a:extLst>
              <a:ext uri="{FF2B5EF4-FFF2-40B4-BE49-F238E27FC236}">
                <a16:creationId xmlns:a16="http://schemas.microsoft.com/office/drawing/2014/main" id="{347D0FBD-1472-468C-84DA-540ADCCDF1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31074" y="3138105"/>
            <a:ext cx="4525963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  <p:sp>
        <p:nvSpPr>
          <p:cNvPr id="18" name="Segnaposto contenuto 10">
            <a:extLst>
              <a:ext uri="{FF2B5EF4-FFF2-40B4-BE49-F238E27FC236}">
                <a16:creationId xmlns:a16="http://schemas.microsoft.com/office/drawing/2014/main" id="{AE654BE7-A245-475E-B2C5-2D5C0EA5B87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331075" y="3867807"/>
            <a:ext cx="4525963" cy="2339318"/>
          </a:xfrm>
          <a:noFill/>
        </p:spPr>
        <p:txBody>
          <a:bodyPr/>
          <a:lstStyle/>
          <a:p>
            <a:pPr lvl="0"/>
            <a:endParaRPr lang="it-IT"/>
          </a:p>
        </p:txBody>
      </p:sp>
      <p:sp>
        <p:nvSpPr>
          <p:cNvPr id="19" name="Segnaposto contenuto 10">
            <a:extLst>
              <a:ext uri="{FF2B5EF4-FFF2-40B4-BE49-F238E27FC236}">
                <a16:creationId xmlns:a16="http://schemas.microsoft.com/office/drawing/2014/main" id="{C7FD40C7-9A42-4239-BA55-CFB8D43C528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331075" y="799291"/>
            <a:ext cx="4525963" cy="2339318"/>
          </a:xfrm>
          <a:noFill/>
        </p:spPr>
        <p:txBody>
          <a:bodyPr/>
          <a:lstStyle/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6210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didascalia 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08073"/>
            <a:ext cx="8640000" cy="840083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15/07/2026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PPO-Based Control of an Active Motion Surface for Parcel Singulation</a:t>
            </a:r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6"/>
            <a:ext cx="8640000" cy="761756"/>
          </a:xfrm>
        </p:spPr>
        <p:txBody>
          <a:bodyPr/>
          <a:lstStyle/>
          <a:p>
            <a:pPr lvl="0"/>
            <a:endParaRPr lang="it-IT"/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D48807E7-406F-46DA-A7FF-0C9752585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3234752"/>
            <a:ext cx="5423999" cy="2972374"/>
          </a:xfrm>
          <a:noFill/>
        </p:spPr>
        <p:txBody>
          <a:bodyPr/>
          <a:lstStyle/>
          <a:p>
            <a:pPr lvl="0"/>
            <a:endParaRPr lang="it-IT"/>
          </a:p>
        </p:txBody>
      </p:sp>
      <p:sp>
        <p:nvSpPr>
          <p:cNvPr id="9" name="Segnaposto testo 11">
            <a:extLst>
              <a:ext uri="{FF2B5EF4-FFF2-40B4-BE49-F238E27FC236}">
                <a16:creationId xmlns:a16="http://schemas.microsoft.com/office/drawing/2014/main" id="{833CAB92-1558-4E15-91D9-6F44CDF88BF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962" y="6207125"/>
            <a:ext cx="5423999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B0E56354-394B-4187-9F9C-3EC0AFE56EF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463201" y="3234752"/>
            <a:ext cx="5423999" cy="2972374"/>
          </a:xfrm>
          <a:noFill/>
        </p:spPr>
        <p:txBody>
          <a:bodyPr/>
          <a:lstStyle/>
          <a:p>
            <a:pPr lvl="0"/>
            <a:endParaRPr lang="it-IT"/>
          </a:p>
        </p:txBody>
      </p:sp>
      <p:sp>
        <p:nvSpPr>
          <p:cNvPr id="11" name="Segnaposto testo 11">
            <a:extLst>
              <a:ext uri="{FF2B5EF4-FFF2-40B4-BE49-F238E27FC236}">
                <a16:creationId xmlns:a16="http://schemas.microsoft.com/office/drawing/2014/main" id="{FA2B0198-8A91-4620-9797-8C5B2DBFE1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63200" y="6207125"/>
            <a:ext cx="5423999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97318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grafica _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BAA8E8E9-CF16-408F-8D84-BC8F1DE0AE3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0"/>
            <a:ext cx="0" cy="6858000"/>
          </a:xfrm>
          <a:prstGeom prst="line">
            <a:avLst/>
          </a:prstGeom>
          <a:ln w="6350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e 12">
            <a:extLst>
              <a:ext uri="{FF2B5EF4-FFF2-40B4-BE49-F238E27FC236}">
                <a16:creationId xmlns:a16="http://schemas.microsoft.com/office/drawing/2014/main" id="{769E06E2-5F0D-4920-A3E9-64AE757EB613}"/>
              </a:ext>
            </a:extLst>
          </p:cNvPr>
          <p:cNvSpPr/>
          <p:nvPr userDrawn="1"/>
        </p:nvSpPr>
        <p:spPr>
          <a:xfrm>
            <a:off x="315427" y="709127"/>
            <a:ext cx="5780573" cy="5780573"/>
          </a:xfrm>
          <a:prstGeom prst="ellipse">
            <a:avLst/>
          </a:prstGeom>
          <a:noFill/>
          <a:ln w="635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2313FBE5-F1C4-4411-B0A7-486C895AF990}"/>
              </a:ext>
            </a:extLst>
          </p:cNvPr>
          <p:cNvSpPr/>
          <p:nvPr userDrawn="1"/>
        </p:nvSpPr>
        <p:spPr>
          <a:xfrm>
            <a:off x="6096000" y="709127"/>
            <a:ext cx="5780573" cy="5780573"/>
          </a:xfrm>
          <a:prstGeom prst="ellipse">
            <a:avLst/>
          </a:prstGeom>
          <a:noFill/>
          <a:ln w="635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15/07/2026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PPO-Based Control of an Active Motion Surface for Parcel Singulation</a:t>
            </a:r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4950" y="2887039"/>
            <a:ext cx="3400570" cy="210620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/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58D49EF2-5E35-412C-A5DD-2A6A604FC3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79792" y="2887039"/>
            <a:ext cx="3400570" cy="210620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2E32AEAB-53EF-4B9D-AE36-D26FBF01B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04950" y="2239963"/>
            <a:ext cx="3400425" cy="441325"/>
          </a:xfrm>
        </p:spPr>
        <p:txBody>
          <a:bodyPr anchor="b">
            <a:normAutofit/>
          </a:bodyPr>
          <a:lstStyle>
            <a:lvl1pPr>
              <a:defRPr sz="16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  <p:sp>
        <p:nvSpPr>
          <p:cNvPr id="16" name="Segnaposto testo 9">
            <a:extLst>
              <a:ext uri="{FF2B5EF4-FFF2-40B4-BE49-F238E27FC236}">
                <a16:creationId xmlns:a16="http://schemas.microsoft.com/office/drawing/2014/main" id="{8BDCC8A1-442C-4890-928F-754837D40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79792" y="2239963"/>
            <a:ext cx="3400425" cy="441325"/>
          </a:xfrm>
        </p:spPr>
        <p:txBody>
          <a:bodyPr anchor="b">
            <a:normAutofit/>
          </a:bodyPr>
          <a:lstStyle>
            <a:lvl1pPr>
              <a:defRPr sz="16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18431287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grafica _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15/07/2026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PPO-Based Control of an Active Motion Surface for Parcel Singulation</a:t>
            </a:r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8620" y="2887039"/>
            <a:ext cx="3100906" cy="360266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2E32AEAB-53EF-4B9D-AE36-D26FBF01B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8643" y="2239963"/>
            <a:ext cx="3100906" cy="441325"/>
          </a:xfrm>
        </p:spPr>
        <p:txBody>
          <a:bodyPr anchor="b">
            <a:normAutofit/>
          </a:bodyPr>
          <a:lstStyle>
            <a:lvl1pPr>
              <a:defRPr sz="16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066F22CF-5ACC-4388-97EC-12C4EE01108C}"/>
              </a:ext>
            </a:extLst>
          </p:cNvPr>
          <p:cNvCxnSpPr>
            <a:cxnSpLocks/>
          </p:cNvCxnSpPr>
          <p:nvPr userDrawn="1"/>
        </p:nvCxnSpPr>
        <p:spPr>
          <a:xfrm>
            <a:off x="4176734" y="0"/>
            <a:ext cx="0" cy="6858000"/>
          </a:xfrm>
          <a:prstGeom prst="line">
            <a:avLst/>
          </a:prstGeom>
          <a:ln w="6350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e 12">
            <a:extLst>
              <a:ext uri="{FF2B5EF4-FFF2-40B4-BE49-F238E27FC236}">
                <a16:creationId xmlns:a16="http://schemas.microsoft.com/office/drawing/2014/main" id="{769E06E2-5F0D-4920-A3E9-64AE757EB613}"/>
              </a:ext>
            </a:extLst>
          </p:cNvPr>
          <p:cNvSpPr/>
          <p:nvPr userDrawn="1"/>
        </p:nvSpPr>
        <p:spPr>
          <a:xfrm>
            <a:off x="315425" y="2637317"/>
            <a:ext cx="3846583" cy="3846583"/>
          </a:xfrm>
          <a:prstGeom prst="ellipse">
            <a:avLst/>
          </a:prstGeom>
          <a:noFill/>
          <a:ln w="635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D84D0C32-E3D9-4D1A-A1D4-7F677E11FBAC}"/>
              </a:ext>
            </a:extLst>
          </p:cNvPr>
          <p:cNvSpPr/>
          <p:nvPr userDrawn="1"/>
        </p:nvSpPr>
        <p:spPr>
          <a:xfrm>
            <a:off x="8017486" y="2637317"/>
            <a:ext cx="3846583" cy="3846583"/>
          </a:xfrm>
          <a:prstGeom prst="ellipse">
            <a:avLst/>
          </a:prstGeom>
          <a:noFill/>
          <a:ln w="635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20D1A14F-932F-4BEF-AF0D-4A0850EA5900}"/>
              </a:ext>
            </a:extLst>
          </p:cNvPr>
          <p:cNvSpPr/>
          <p:nvPr userDrawn="1"/>
        </p:nvSpPr>
        <p:spPr>
          <a:xfrm>
            <a:off x="4175247" y="2637317"/>
            <a:ext cx="3846583" cy="3846583"/>
          </a:xfrm>
          <a:prstGeom prst="ellipse">
            <a:avLst/>
          </a:prstGeom>
          <a:noFill/>
          <a:ln w="635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9" name="Connettore diritto 28">
            <a:extLst>
              <a:ext uri="{FF2B5EF4-FFF2-40B4-BE49-F238E27FC236}">
                <a16:creationId xmlns:a16="http://schemas.microsoft.com/office/drawing/2014/main" id="{175274AF-A160-4234-871A-D8C5B0DF011E}"/>
              </a:ext>
            </a:extLst>
          </p:cNvPr>
          <p:cNvCxnSpPr>
            <a:cxnSpLocks/>
          </p:cNvCxnSpPr>
          <p:nvPr userDrawn="1"/>
        </p:nvCxnSpPr>
        <p:spPr>
          <a:xfrm>
            <a:off x="8027765" y="0"/>
            <a:ext cx="0" cy="6858000"/>
          </a:xfrm>
          <a:prstGeom prst="line">
            <a:avLst/>
          </a:prstGeom>
          <a:ln w="6350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egnaposto testo 6">
            <a:extLst>
              <a:ext uri="{FF2B5EF4-FFF2-40B4-BE49-F238E27FC236}">
                <a16:creationId xmlns:a16="http://schemas.microsoft.com/office/drawing/2014/main" id="{0C5DB749-C07B-4557-8B31-C5C44DDA99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51535" y="2887039"/>
            <a:ext cx="3100906" cy="360266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/>
          </a:p>
        </p:txBody>
      </p:sp>
      <p:sp>
        <p:nvSpPr>
          <p:cNvPr id="31" name="Segnaposto testo 9">
            <a:extLst>
              <a:ext uri="{FF2B5EF4-FFF2-40B4-BE49-F238E27FC236}">
                <a16:creationId xmlns:a16="http://schemas.microsoft.com/office/drawing/2014/main" id="{642D4EEC-FAC4-4C46-BB9F-3BA54588E4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51558" y="2239963"/>
            <a:ext cx="3100906" cy="441325"/>
          </a:xfrm>
        </p:spPr>
        <p:txBody>
          <a:bodyPr anchor="b">
            <a:normAutofit/>
          </a:bodyPr>
          <a:lstStyle>
            <a:lvl1pPr>
              <a:defRPr sz="16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  <p:sp>
        <p:nvSpPr>
          <p:cNvPr id="32" name="Segnaposto testo 6">
            <a:extLst>
              <a:ext uri="{FF2B5EF4-FFF2-40B4-BE49-F238E27FC236}">
                <a16:creationId xmlns:a16="http://schemas.microsoft.com/office/drawing/2014/main" id="{8310C023-87FF-43B4-9428-3E2652BDB8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76189" y="2887039"/>
            <a:ext cx="3100906" cy="360266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/>
          </a:p>
        </p:txBody>
      </p:sp>
      <p:sp>
        <p:nvSpPr>
          <p:cNvPr id="33" name="Segnaposto testo 9">
            <a:extLst>
              <a:ext uri="{FF2B5EF4-FFF2-40B4-BE49-F238E27FC236}">
                <a16:creationId xmlns:a16="http://schemas.microsoft.com/office/drawing/2014/main" id="{0FB8C8B8-D4F7-4669-8F3B-F456A7ECFC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76212" y="2239963"/>
            <a:ext cx="3100906" cy="441325"/>
          </a:xfrm>
        </p:spPr>
        <p:txBody>
          <a:bodyPr anchor="b">
            <a:normAutofit/>
          </a:bodyPr>
          <a:lstStyle>
            <a:lvl1pPr>
              <a:defRPr sz="16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6309948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grafica _ 4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15/07/2026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PPO-Based Control of an Active Motion Surface for Parcel Singulation</a:t>
            </a:r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8620" y="2887039"/>
            <a:ext cx="2503621" cy="36026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2E32AEAB-53EF-4B9D-AE36-D26FBF01B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8643" y="2239963"/>
            <a:ext cx="2503514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BAA8E8E9-CF16-408F-8D84-BC8F1DE0AE3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-24549"/>
            <a:ext cx="0" cy="6882549"/>
          </a:xfrm>
          <a:prstGeom prst="line">
            <a:avLst/>
          </a:prstGeom>
          <a:ln w="6350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e 12">
            <a:extLst>
              <a:ext uri="{FF2B5EF4-FFF2-40B4-BE49-F238E27FC236}">
                <a16:creationId xmlns:a16="http://schemas.microsoft.com/office/drawing/2014/main" id="{769E06E2-5F0D-4920-A3E9-64AE757EB613}"/>
              </a:ext>
            </a:extLst>
          </p:cNvPr>
          <p:cNvSpPr/>
          <p:nvPr userDrawn="1"/>
        </p:nvSpPr>
        <p:spPr>
          <a:xfrm>
            <a:off x="339511" y="3544304"/>
            <a:ext cx="2869255" cy="2945397"/>
          </a:xfrm>
          <a:prstGeom prst="ellipse">
            <a:avLst/>
          </a:prstGeom>
          <a:noFill/>
          <a:ln w="635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066F22CF-5ACC-4388-97EC-12C4EE01108C}"/>
              </a:ext>
            </a:extLst>
          </p:cNvPr>
          <p:cNvCxnSpPr>
            <a:cxnSpLocks/>
          </p:cNvCxnSpPr>
          <p:nvPr userDrawn="1"/>
        </p:nvCxnSpPr>
        <p:spPr>
          <a:xfrm>
            <a:off x="3216275" y="-24549"/>
            <a:ext cx="0" cy="6882549"/>
          </a:xfrm>
          <a:prstGeom prst="line">
            <a:avLst/>
          </a:prstGeom>
          <a:ln w="6350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9EF945E3-FEE2-40A3-82CD-7811BFD88746}"/>
              </a:ext>
            </a:extLst>
          </p:cNvPr>
          <p:cNvCxnSpPr>
            <a:cxnSpLocks/>
          </p:cNvCxnSpPr>
          <p:nvPr userDrawn="1"/>
        </p:nvCxnSpPr>
        <p:spPr>
          <a:xfrm>
            <a:off x="8969803" y="-24549"/>
            <a:ext cx="0" cy="6882549"/>
          </a:xfrm>
          <a:prstGeom prst="line">
            <a:avLst/>
          </a:prstGeom>
          <a:ln w="6350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egnaposto testo 6">
            <a:extLst>
              <a:ext uri="{FF2B5EF4-FFF2-40B4-BE49-F238E27FC236}">
                <a16:creationId xmlns:a16="http://schemas.microsoft.com/office/drawing/2014/main" id="{4DA14660-E3DE-4786-8628-2BDB623B542F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3414561" y="2887039"/>
            <a:ext cx="2503621" cy="36026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/>
          </a:p>
        </p:txBody>
      </p:sp>
      <p:sp>
        <p:nvSpPr>
          <p:cNvPr id="22" name="Segnaposto testo 9">
            <a:extLst>
              <a:ext uri="{FF2B5EF4-FFF2-40B4-BE49-F238E27FC236}">
                <a16:creationId xmlns:a16="http://schemas.microsoft.com/office/drawing/2014/main" id="{38062A0A-3D00-4F2E-A78C-520C7A8814B0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414584" y="2239963"/>
            <a:ext cx="2503514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  <p:sp>
        <p:nvSpPr>
          <p:cNvPr id="23" name="Segnaposto testo 6">
            <a:extLst>
              <a:ext uri="{FF2B5EF4-FFF2-40B4-BE49-F238E27FC236}">
                <a16:creationId xmlns:a16="http://schemas.microsoft.com/office/drawing/2014/main" id="{3FA3924C-C133-43D4-9617-6E7333D996FB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6250229" y="2887039"/>
            <a:ext cx="2503621" cy="36026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/>
          </a:p>
        </p:txBody>
      </p:sp>
      <p:sp>
        <p:nvSpPr>
          <p:cNvPr id="24" name="Segnaposto testo 9">
            <a:extLst>
              <a:ext uri="{FF2B5EF4-FFF2-40B4-BE49-F238E27FC236}">
                <a16:creationId xmlns:a16="http://schemas.microsoft.com/office/drawing/2014/main" id="{4F293ED1-7D64-49B8-81A0-5F5FB11E3592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250252" y="2239963"/>
            <a:ext cx="2503514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34980872-E501-48A5-8B13-B7016BEEE029}"/>
              </a:ext>
            </a:extLst>
          </p:cNvPr>
          <p:cNvSpPr>
            <a:spLocks noGrp="1"/>
          </p:cNvSpPr>
          <p:nvPr userDrawn="1">
            <p:ph type="body" sz="quarter" idx="20"/>
          </p:nvPr>
        </p:nvSpPr>
        <p:spPr>
          <a:xfrm>
            <a:off x="9157816" y="2887039"/>
            <a:ext cx="2503621" cy="36026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/>
          </a:p>
        </p:txBody>
      </p:sp>
      <p:sp>
        <p:nvSpPr>
          <p:cNvPr id="26" name="Segnaposto testo 9">
            <a:extLst>
              <a:ext uri="{FF2B5EF4-FFF2-40B4-BE49-F238E27FC236}">
                <a16:creationId xmlns:a16="http://schemas.microsoft.com/office/drawing/2014/main" id="{7359F283-E0AA-4871-A428-A58C8F3F0AAC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9157839" y="2239963"/>
            <a:ext cx="2503514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101D1BE9-9067-430D-A318-4BC1405F006A}"/>
              </a:ext>
            </a:extLst>
          </p:cNvPr>
          <p:cNvSpPr/>
          <p:nvPr userDrawn="1"/>
        </p:nvSpPr>
        <p:spPr>
          <a:xfrm>
            <a:off x="3223388" y="3544304"/>
            <a:ext cx="2869255" cy="2945397"/>
          </a:xfrm>
          <a:prstGeom prst="ellipse">
            <a:avLst/>
          </a:prstGeom>
          <a:noFill/>
          <a:ln w="635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F88114C5-1930-4807-8B76-4565A5FFB9B5}"/>
              </a:ext>
            </a:extLst>
          </p:cNvPr>
          <p:cNvSpPr/>
          <p:nvPr userDrawn="1"/>
        </p:nvSpPr>
        <p:spPr>
          <a:xfrm>
            <a:off x="6089680" y="3544304"/>
            <a:ext cx="2869255" cy="2945397"/>
          </a:xfrm>
          <a:prstGeom prst="ellipse">
            <a:avLst/>
          </a:prstGeom>
          <a:noFill/>
          <a:ln w="635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E2D6333A-9B81-4325-A926-22F5E403D75F}"/>
              </a:ext>
            </a:extLst>
          </p:cNvPr>
          <p:cNvSpPr/>
          <p:nvPr userDrawn="1"/>
        </p:nvSpPr>
        <p:spPr>
          <a:xfrm>
            <a:off x="8964764" y="3544304"/>
            <a:ext cx="2869255" cy="2945397"/>
          </a:xfrm>
          <a:prstGeom prst="ellipse">
            <a:avLst/>
          </a:prstGeom>
          <a:noFill/>
          <a:ln w="635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10402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Evidenza _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325365"/>
            <a:ext cx="11522075" cy="4222679"/>
          </a:xfrm>
        </p:spPr>
        <p:txBody>
          <a:bodyPr anchor="ctr"/>
          <a:lstStyle>
            <a:lvl1pPr>
              <a:defRPr sz="4000" b="0"/>
            </a:lvl1pPr>
          </a:lstStyle>
          <a:p>
            <a:r>
              <a:rPr lang="it-IT"/>
              <a:t>Inserire testo in evidenza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15/07/2026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PPO-Based Control of an Active Motion Surface for Parcel Singulation</a:t>
            </a:r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6FCB4558-5B0B-4E68-99C0-73044CD4F7EE}"/>
              </a:ext>
            </a:extLst>
          </p:cNvPr>
          <p:cNvSpPr/>
          <p:nvPr userDrawn="1"/>
        </p:nvSpPr>
        <p:spPr>
          <a:xfrm>
            <a:off x="-1366766" y="1325366"/>
            <a:ext cx="4222679" cy="4222679"/>
          </a:xfrm>
          <a:prstGeom prst="ellipse">
            <a:avLst/>
          </a:prstGeom>
          <a:noFill/>
          <a:ln w="9525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5CD3E5C6-1FD7-4A9E-A65F-282056577FB3}"/>
              </a:ext>
            </a:extLst>
          </p:cNvPr>
          <p:cNvCxnSpPr>
            <a:cxnSpLocks/>
          </p:cNvCxnSpPr>
          <p:nvPr userDrawn="1"/>
        </p:nvCxnSpPr>
        <p:spPr>
          <a:xfrm>
            <a:off x="0" y="132536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D9DB920E-F5AB-4AF8-BFFC-D380A2D7FEAE}"/>
              </a:ext>
            </a:extLst>
          </p:cNvPr>
          <p:cNvCxnSpPr>
            <a:cxnSpLocks/>
          </p:cNvCxnSpPr>
          <p:nvPr userDrawn="1"/>
        </p:nvCxnSpPr>
        <p:spPr>
          <a:xfrm>
            <a:off x="0" y="5548045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028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Evidenza _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771" y="1775639"/>
            <a:ext cx="10664455" cy="2317896"/>
          </a:xfrm>
          <a:ln>
            <a:noFill/>
          </a:ln>
        </p:spPr>
        <p:txBody>
          <a:bodyPr anchor="b"/>
          <a:lstStyle>
            <a:lvl1pPr algn="ctr">
              <a:defRPr sz="4800" b="0">
                <a:solidFill>
                  <a:schemeClr val="tx2"/>
                </a:solidFill>
              </a:defRPr>
            </a:lvl1pPr>
          </a:lstStyle>
          <a:p>
            <a:r>
              <a:rPr lang="it-IT"/>
              <a:t>Inserire testo in evidenza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15/07/2026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PPO-Based Control of an Active Motion Surface for Parcel Singulation</a:t>
            </a:r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6FCB4558-5B0B-4E68-99C0-73044CD4F7EE}"/>
              </a:ext>
            </a:extLst>
          </p:cNvPr>
          <p:cNvSpPr/>
          <p:nvPr userDrawn="1"/>
        </p:nvSpPr>
        <p:spPr>
          <a:xfrm>
            <a:off x="3233122" y="757946"/>
            <a:ext cx="5725755" cy="5725755"/>
          </a:xfrm>
          <a:prstGeom prst="ellipse">
            <a:avLst/>
          </a:prstGeom>
          <a:noFill/>
          <a:ln w="9525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5CD3E5C6-1FD7-4A9E-A65F-282056577FB3}"/>
              </a:ext>
            </a:extLst>
          </p:cNvPr>
          <p:cNvCxnSpPr>
            <a:cxnSpLocks/>
          </p:cNvCxnSpPr>
          <p:nvPr userDrawn="1"/>
        </p:nvCxnSpPr>
        <p:spPr>
          <a:xfrm>
            <a:off x="0" y="72994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D9DB920E-F5AB-4AF8-BFFC-D380A2D7FEAE}"/>
              </a:ext>
            </a:extLst>
          </p:cNvPr>
          <p:cNvCxnSpPr>
            <a:cxnSpLocks/>
          </p:cNvCxnSpPr>
          <p:nvPr userDrawn="1"/>
        </p:nvCxnSpPr>
        <p:spPr>
          <a:xfrm>
            <a:off x="0" y="648371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5FA801A9-B23D-4656-8AFA-3E413EDFA6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3588" y="4536830"/>
            <a:ext cx="10664825" cy="601907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61244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 / Titolo / Docente  |  00. 00. 0000">
            <a:extLst>
              <a:ext uri="{FF2B5EF4-FFF2-40B4-BE49-F238E27FC236}">
                <a16:creationId xmlns:a16="http://schemas.microsoft.com/office/drawing/2014/main" id="{99FF4CA3-BA67-0511-3FE3-11769597A30E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>
              <a:lnSpc>
                <a:spcPct val="100000"/>
              </a:lnSpc>
              <a:defRPr sz="1200">
                <a:solidFill>
                  <a:schemeClr val="tx2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sp>
        <p:nvSpPr>
          <p:cNvPr id="3" name="Titolo 5">
            <a:extLst>
              <a:ext uri="{FF2B5EF4-FFF2-40B4-BE49-F238E27FC236}">
                <a16:creationId xmlns:a16="http://schemas.microsoft.com/office/drawing/2014/main" id="{5660309B-4011-4FF9-71E9-5BC51EF56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287" y="2853390"/>
            <a:ext cx="10986218" cy="2324100"/>
          </a:xfrm>
        </p:spPr>
        <p:txBody>
          <a:bodyPr lIns="0" tIns="360000" rIns="0" bIns="0" anchor="t"/>
          <a:lstStyle>
            <a:lvl1pPr>
              <a:defRPr lang="it-IT" dirty="0">
                <a:solidFill>
                  <a:schemeClr val="tx2"/>
                </a:solidFill>
              </a:defRPr>
            </a:lvl1pPr>
          </a:lstStyle>
          <a:p>
            <a:r>
              <a:rPr lang="it-IT"/>
              <a:t>Inserire titolo</a:t>
            </a:r>
          </a:p>
        </p:txBody>
      </p:sp>
      <p:sp>
        <p:nvSpPr>
          <p:cNvPr id="5" name="Cerchio">
            <a:extLst>
              <a:ext uri="{FF2B5EF4-FFF2-40B4-BE49-F238E27FC236}">
                <a16:creationId xmlns:a16="http://schemas.microsoft.com/office/drawing/2014/main" id="{5F9D2376-F92C-70CC-7E4A-0F195E3EA543}"/>
              </a:ext>
            </a:extLst>
          </p:cNvPr>
          <p:cNvSpPr/>
          <p:nvPr userDrawn="1"/>
        </p:nvSpPr>
        <p:spPr>
          <a:xfrm rot="10800000">
            <a:off x="7559558" y="-1156784"/>
            <a:ext cx="4010434" cy="4010172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50000"/>
                </a:srgbClr>
              </a:gs>
              <a:gs pos="13661">
                <a:schemeClr val="accent4"/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lvl="0" algn="ctr" defTabSz="412756"/>
            <a:endParaRPr sz="1600" b="0" i="0">
              <a:solidFill>
                <a:srgbClr val="FFFFFF">
                  <a:alpha val="20092"/>
                </a:srgbClr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6" name="Cerchio">
            <a:extLst>
              <a:ext uri="{FF2B5EF4-FFF2-40B4-BE49-F238E27FC236}">
                <a16:creationId xmlns:a16="http://schemas.microsoft.com/office/drawing/2014/main" id="{A0BCD1D3-187F-0F81-48F7-30E4CB14B416}"/>
              </a:ext>
            </a:extLst>
          </p:cNvPr>
          <p:cNvSpPr/>
          <p:nvPr userDrawn="1"/>
        </p:nvSpPr>
        <p:spPr>
          <a:xfrm>
            <a:off x="7559558" y="2853390"/>
            <a:ext cx="4010432" cy="4010171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50000"/>
                </a:srgbClr>
              </a:gs>
              <a:gs pos="13661">
                <a:schemeClr val="accent4"/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>
                    <a:alpha val="20092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>
              <a:latin typeface="Manrope" pitchFamily="2" charset="0"/>
              <a:cs typeface="Arial" panose="020B0604020202020204" pitchFamily="34" charset="0"/>
            </a:endParaRP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2B7B3A0A-3A1B-42DE-B9AE-23655BAD3745}"/>
              </a:ext>
            </a:extLst>
          </p:cNvPr>
          <p:cNvCxnSpPr>
            <a:cxnSpLocks/>
          </p:cNvCxnSpPr>
          <p:nvPr userDrawn="1"/>
        </p:nvCxnSpPr>
        <p:spPr>
          <a:xfrm>
            <a:off x="11569992" y="0"/>
            <a:ext cx="0" cy="685800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FD11F552-5459-4905-94FE-760C82166453}"/>
              </a:ext>
            </a:extLst>
          </p:cNvPr>
          <p:cNvCxnSpPr>
            <a:cxnSpLocks/>
          </p:cNvCxnSpPr>
          <p:nvPr userDrawn="1"/>
        </p:nvCxnSpPr>
        <p:spPr>
          <a:xfrm>
            <a:off x="7559558" y="0"/>
            <a:ext cx="0" cy="685800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FFD66269-DBF7-485E-8F18-092A9E8BABC4}"/>
              </a:ext>
            </a:extLst>
          </p:cNvPr>
          <p:cNvCxnSpPr>
            <a:cxnSpLocks/>
          </p:cNvCxnSpPr>
          <p:nvPr userDrawn="1"/>
        </p:nvCxnSpPr>
        <p:spPr>
          <a:xfrm>
            <a:off x="0" y="2853390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Elemento grafico 11">
            <a:extLst>
              <a:ext uri="{FF2B5EF4-FFF2-40B4-BE49-F238E27FC236}">
                <a16:creationId xmlns:a16="http://schemas.microsoft.com/office/drawing/2014/main" id="{C80F9DFB-7B35-4DF5-BADB-72D6689599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7559" y="558879"/>
            <a:ext cx="39615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5856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e 35">
            <a:extLst>
              <a:ext uri="{FF2B5EF4-FFF2-40B4-BE49-F238E27FC236}">
                <a16:creationId xmlns:a16="http://schemas.microsoft.com/office/drawing/2014/main" id="{51B3AA80-97EC-50CB-4FE0-29FF43A159AF}"/>
              </a:ext>
            </a:extLst>
          </p:cNvPr>
          <p:cNvSpPr/>
          <p:nvPr userDrawn="1"/>
        </p:nvSpPr>
        <p:spPr>
          <a:xfrm>
            <a:off x="2609" y="-5451948"/>
            <a:ext cx="10887979" cy="10887270"/>
          </a:xfrm>
          <a:prstGeom prst="ellipse">
            <a:avLst/>
          </a:prstGeom>
          <a:gradFill flip="none" rotWithShape="1">
            <a:gsLst>
              <a:gs pos="8000">
                <a:schemeClr val="tx1">
                  <a:lumMod val="0"/>
                  <a:lumOff val="100000"/>
                  <a:alpha val="3100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>
              <a:latin typeface="Manrope" pitchFamily="2" charset="0"/>
            </a:endParaRPr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0F01AAD3-5366-6929-C4BA-2E51CD3F31D4}"/>
              </a:ext>
            </a:extLst>
          </p:cNvPr>
          <p:cNvSpPr/>
          <p:nvPr userDrawn="1"/>
        </p:nvSpPr>
        <p:spPr>
          <a:xfrm rot="19314398">
            <a:off x="2609" y="5451681"/>
            <a:ext cx="10887979" cy="10887270"/>
          </a:xfrm>
          <a:prstGeom prst="ellipse">
            <a:avLst/>
          </a:prstGeom>
          <a:gradFill flip="none" rotWithShape="1">
            <a:gsLst>
              <a:gs pos="8000">
                <a:schemeClr val="tx1">
                  <a:lumMod val="0"/>
                  <a:lumOff val="100000"/>
                  <a:alpha val="3100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 sz="900">
              <a:latin typeface="Manrope" pitchFamily="2" charset="0"/>
            </a:endParaRPr>
          </a:p>
        </p:txBody>
      </p:sp>
      <p:sp>
        <p:nvSpPr>
          <p:cNvPr id="10" name="Linea">
            <a:extLst>
              <a:ext uri="{FF2B5EF4-FFF2-40B4-BE49-F238E27FC236}">
                <a16:creationId xmlns:a16="http://schemas.microsoft.com/office/drawing/2014/main" id="{2889EA06-D03D-AD37-B610-762B18DC9D96}"/>
              </a:ext>
            </a:extLst>
          </p:cNvPr>
          <p:cNvSpPr/>
          <p:nvPr userDrawn="1"/>
        </p:nvSpPr>
        <p:spPr>
          <a:xfrm rot="10800000" flipH="1">
            <a:off x="10895557" y="1057"/>
            <a:ext cx="1" cy="6855889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  <a:miter lim="400000"/>
          </a:ln>
        </p:spPr>
        <p:txBody>
          <a:bodyPr lIns="25399" tIns="25399" rIns="25399" bIns="25399" anchor="ctr"/>
          <a:lstStyle/>
          <a:p>
            <a:endParaRPr sz="1200">
              <a:latin typeface="Manrope" pitchFamily="2" charset="0"/>
            </a:endParaRPr>
          </a:p>
        </p:txBody>
      </p:sp>
      <p:sp>
        <p:nvSpPr>
          <p:cNvPr id="11" name="Linea">
            <a:extLst>
              <a:ext uri="{FF2B5EF4-FFF2-40B4-BE49-F238E27FC236}">
                <a16:creationId xmlns:a16="http://schemas.microsoft.com/office/drawing/2014/main" id="{1C01A8D5-245E-26D8-2ECA-82D4764647AF}"/>
              </a:ext>
            </a:extLst>
          </p:cNvPr>
          <p:cNvSpPr/>
          <p:nvPr userDrawn="1"/>
        </p:nvSpPr>
        <p:spPr>
          <a:xfrm rot="10800000">
            <a:off x="-3064" y="5436688"/>
            <a:ext cx="12198128" cy="1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  <a:miter lim="400000"/>
          </a:ln>
        </p:spPr>
        <p:txBody>
          <a:bodyPr lIns="25399" tIns="25399" rIns="25399" bIns="25399" anchor="ctr"/>
          <a:lstStyle/>
          <a:p>
            <a:endParaRPr sz="1200">
              <a:latin typeface="Manrope" pitchFamily="2" charset="0"/>
            </a:endParaRPr>
          </a:p>
        </p:txBody>
      </p:sp>
      <p:sp>
        <p:nvSpPr>
          <p:cNvPr id="24" name="Titolo 5">
            <a:extLst>
              <a:ext uri="{FF2B5EF4-FFF2-40B4-BE49-F238E27FC236}">
                <a16:creationId xmlns:a16="http://schemas.microsoft.com/office/drawing/2014/main" id="{7A3C36CA-9D5D-490C-3E31-571AF7EC5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376" y="2970949"/>
            <a:ext cx="10297220" cy="1979441"/>
          </a:xfrm>
          <a:prstGeom prst="rect">
            <a:avLst/>
          </a:prstGeom>
        </p:spPr>
        <p:txBody>
          <a:bodyPr lIns="0" tIns="360000" rIns="0" bIns="0"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Inserire titolo</a:t>
            </a:r>
            <a:br>
              <a:rPr lang="it-IT"/>
            </a:br>
            <a:r>
              <a:rPr lang="it-IT"/>
              <a:t>Presentazione</a:t>
            </a:r>
          </a:p>
        </p:txBody>
      </p:sp>
      <p:sp>
        <p:nvSpPr>
          <p:cNvPr id="25" name="Tema / Titolo / Docente  |  00. 00. 0000">
            <a:extLst>
              <a:ext uri="{FF2B5EF4-FFF2-40B4-BE49-F238E27FC236}">
                <a16:creationId xmlns:a16="http://schemas.microsoft.com/office/drawing/2014/main" id="{A4A528BE-7AD2-13B5-15DC-484153FDCFB1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2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33E099E7-3050-412B-9627-19DC3384CE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7559" y="558879"/>
            <a:ext cx="39615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012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">
            <a:extLst>
              <a:ext uri="{FF2B5EF4-FFF2-40B4-BE49-F238E27FC236}">
                <a16:creationId xmlns:a16="http://schemas.microsoft.com/office/drawing/2014/main" id="{5904BB58-3F14-9C88-2C51-FC53AD74ECDB}"/>
              </a:ext>
            </a:extLst>
          </p:cNvPr>
          <p:cNvSpPr/>
          <p:nvPr userDrawn="1"/>
        </p:nvSpPr>
        <p:spPr>
          <a:xfrm>
            <a:off x="-13900" y="5890078"/>
            <a:ext cx="12220596" cy="97807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 anchor="ctr"/>
          <a:lstStyle>
            <a:lvl1pPr algn="ctr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60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grpSp>
        <p:nvGrpSpPr>
          <p:cNvPr id="35" name="Raggruppa">
            <a:extLst>
              <a:ext uri="{FF2B5EF4-FFF2-40B4-BE49-F238E27FC236}">
                <a16:creationId xmlns:a16="http://schemas.microsoft.com/office/drawing/2014/main" id="{10E0AFDC-3F66-1CFB-E987-27D87A91FC3E}"/>
              </a:ext>
            </a:extLst>
          </p:cNvPr>
          <p:cNvGrpSpPr/>
          <p:nvPr userDrawn="1"/>
        </p:nvGrpSpPr>
        <p:grpSpPr>
          <a:xfrm>
            <a:off x="4678770" y="6112429"/>
            <a:ext cx="774301" cy="512711"/>
            <a:chOff x="55030" y="-1"/>
            <a:chExt cx="1548497" cy="1025419"/>
          </a:xfrm>
        </p:grpSpPr>
        <p:sp>
          <p:nvSpPr>
            <p:cNvPr id="36" name="Dicitura 01">
              <a:extLst>
                <a:ext uri="{FF2B5EF4-FFF2-40B4-BE49-F238E27FC236}">
                  <a16:creationId xmlns:a16="http://schemas.microsoft.com/office/drawing/2014/main" id="{10073F5C-DD0F-6D06-4F37-6385373A1AB7}"/>
                </a:ext>
              </a:extLst>
            </p:cNvPr>
            <p:cNvSpPr txBox="1"/>
            <p:nvPr/>
          </p:nvSpPr>
          <p:spPr>
            <a:xfrm>
              <a:off x="55030" y="102541"/>
              <a:ext cx="1391313" cy="4821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r">
                <a:defRPr sz="2200">
                  <a:solidFill>
                    <a:srgbClr val="102C53"/>
                  </a:solidFill>
                </a:defRPr>
              </a:lvl1pPr>
            </a:lstStyle>
            <a:p>
              <a:r>
                <a:rPr sz="900" b="1" err="1">
                  <a:latin typeface="Manrope" pitchFamily="2" charset="0"/>
                </a:rPr>
                <a:t>Dicitura</a:t>
              </a:r>
              <a:r>
                <a:rPr sz="900" b="1">
                  <a:latin typeface="Manrope" pitchFamily="2" charset="0"/>
                </a:rPr>
                <a:t> 01</a:t>
              </a:r>
            </a:p>
          </p:txBody>
        </p:sp>
        <p:sp>
          <p:nvSpPr>
            <p:cNvPr id="37" name="Linea">
              <a:extLst>
                <a:ext uri="{FF2B5EF4-FFF2-40B4-BE49-F238E27FC236}">
                  <a16:creationId xmlns:a16="http://schemas.microsoft.com/office/drawing/2014/main" id="{A2D93BEA-CDAB-B761-4314-7A4D96C6DDEB}"/>
                </a:ext>
              </a:extLst>
            </p:cNvPr>
            <p:cNvSpPr/>
            <p:nvPr/>
          </p:nvSpPr>
          <p:spPr>
            <a:xfrm flipV="1">
              <a:off x="1603526" y="-1"/>
              <a:ext cx="1" cy="1025419"/>
            </a:xfrm>
            <a:prstGeom prst="line">
              <a:avLst/>
            </a:prstGeom>
            <a:noFill/>
            <a:ln w="9525" cap="flat">
              <a:solidFill>
                <a:srgbClr val="102C53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sz="338">
                <a:latin typeface="Manrope" pitchFamily="2" charset="0"/>
              </a:endParaRPr>
            </a:p>
          </p:txBody>
        </p:sp>
      </p:grpSp>
      <p:grpSp>
        <p:nvGrpSpPr>
          <p:cNvPr id="38" name="Raggruppa">
            <a:extLst>
              <a:ext uri="{FF2B5EF4-FFF2-40B4-BE49-F238E27FC236}">
                <a16:creationId xmlns:a16="http://schemas.microsoft.com/office/drawing/2014/main" id="{56DCEED6-6F0E-CCBB-2279-C15A32771039}"/>
              </a:ext>
            </a:extLst>
          </p:cNvPr>
          <p:cNvGrpSpPr/>
          <p:nvPr userDrawn="1"/>
        </p:nvGrpSpPr>
        <p:grpSpPr>
          <a:xfrm>
            <a:off x="8291202" y="6112429"/>
            <a:ext cx="790072" cy="512711"/>
            <a:chOff x="70058" y="-1"/>
            <a:chExt cx="1580036" cy="1025419"/>
          </a:xfrm>
        </p:grpSpPr>
        <p:sp>
          <p:nvSpPr>
            <p:cNvPr id="39" name="Dicitura 02">
              <a:extLst>
                <a:ext uri="{FF2B5EF4-FFF2-40B4-BE49-F238E27FC236}">
                  <a16:creationId xmlns:a16="http://schemas.microsoft.com/office/drawing/2014/main" id="{65F304E2-7E9C-B774-6D16-605FDABF18A3}"/>
                </a:ext>
              </a:extLst>
            </p:cNvPr>
            <p:cNvSpPr txBox="1"/>
            <p:nvPr/>
          </p:nvSpPr>
          <p:spPr>
            <a:xfrm>
              <a:off x="70058" y="102541"/>
              <a:ext cx="1426577" cy="4821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r">
                <a:defRPr sz="2200">
                  <a:solidFill>
                    <a:srgbClr val="102C53"/>
                  </a:solidFill>
                </a:defRPr>
              </a:lvl1pPr>
            </a:lstStyle>
            <a:p>
              <a:r>
                <a:rPr sz="900" b="1" err="1">
                  <a:latin typeface="Manrope" pitchFamily="2" charset="0"/>
                </a:rPr>
                <a:t>Dicitura</a:t>
              </a:r>
              <a:r>
                <a:rPr sz="900" b="1">
                  <a:latin typeface="Manrope" pitchFamily="2" charset="0"/>
                </a:rPr>
                <a:t> 02</a:t>
              </a:r>
            </a:p>
          </p:txBody>
        </p:sp>
        <p:sp>
          <p:nvSpPr>
            <p:cNvPr id="40" name="Linea">
              <a:extLst>
                <a:ext uri="{FF2B5EF4-FFF2-40B4-BE49-F238E27FC236}">
                  <a16:creationId xmlns:a16="http://schemas.microsoft.com/office/drawing/2014/main" id="{0D3513D8-03DF-07FB-C95C-75AB43EA944A}"/>
                </a:ext>
              </a:extLst>
            </p:cNvPr>
            <p:cNvSpPr/>
            <p:nvPr/>
          </p:nvSpPr>
          <p:spPr>
            <a:xfrm flipV="1">
              <a:off x="1650093" y="-1"/>
              <a:ext cx="1" cy="1025419"/>
            </a:xfrm>
            <a:prstGeom prst="line">
              <a:avLst/>
            </a:prstGeom>
            <a:noFill/>
            <a:ln w="9525" cap="flat">
              <a:solidFill>
                <a:srgbClr val="102C53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sz="338">
                <a:latin typeface="Manrope" pitchFamily="2" charset="0"/>
              </a:endParaRPr>
            </a:p>
          </p:txBody>
        </p:sp>
      </p:grpSp>
      <p:grpSp>
        <p:nvGrpSpPr>
          <p:cNvPr id="41" name="Raggruppa">
            <a:extLst>
              <a:ext uri="{FF2B5EF4-FFF2-40B4-BE49-F238E27FC236}">
                <a16:creationId xmlns:a16="http://schemas.microsoft.com/office/drawing/2014/main" id="{EE4E4B32-B5F8-3F30-EE38-C91ECC226870}"/>
              </a:ext>
            </a:extLst>
          </p:cNvPr>
          <p:cNvGrpSpPr/>
          <p:nvPr userDrawn="1"/>
        </p:nvGrpSpPr>
        <p:grpSpPr>
          <a:xfrm>
            <a:off x="9328958" y="6152538"/>
            <a:ext cx="979517" cy="453158"/>
            <a:chOff x="60711" y="0"/>
            <a:chExt cx="1958904" cy="906313"/>
          </a:xfrm>
        </p:grpSpPr>
        <p:sp>
          <p:nvSpPr>
            <p:cNvPr id="42" name="Logo">
              <a:extLst>
                <a:ext uri="{FF2B5EF4-FFF2-40B4-BE49-F238E27FC236}">
                  <a16:creationId xmlns:a16="http://schemas.microsoft.com/office/drawing/2014/main" id="{01F912F9-4CA7-0309-4362-4AE504D449B0}"/>
                </a:ext>
              </a:extLst>
            </p:cNvPr>
            <p:cNvSpPr txBox="1"/>
            <p:nvPr/>
          </p:nvSpPr>
          <p:spPr>
            <a:xfrm>
              <a:off x="996967" y="135122"/>
              <a:ext cx="1022648" cy="6360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>
                  <a:solidFill>
                    <a:srgbClr val="D5D5D5"/>
                  </a:solidFill>
                </a:defRPr>
              </a:lvl1pPr>
            </a:lstStyle>
            <a:p>
              <a:r>
                <a:rPr sz="1400">
                  <a:latin typeface="Manrope" pitchFamily="2" charset="0"/>
                </a:rPr>
                <a:t>Logo</a:t>
              </a:r>
            </a:p>
          </p:txBody>
        </p:sp>
        <p:sp>
          <p:nvSpPr>
            <p:cNvPr id="43" name="Poligono">
              <a:extLst>
                <a:ext uri="{FF2B5EF4-FFF2-40B4-BE49-F238E27FC236}">
                  <a16:creationId xmlns:a16="http://schemas.microsoft.com/office/drawing/2014/main" id="{1A2CDB77-2460-9096-7611-C3E31F3AB038}"/>
                </a:ext>
              </a:extLst>
            </p:cNvPr>
            <p:cNvSpPr/>
            <p:nvPr/>
          </p:nvSpPr>
          <p:spPr>
            <a:xfrm>
              <a:off x="60711" y="0"/>
              <a:ext cx="784891" cy="906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D5D5D5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412756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4" name="Raggruppa">
            <a:extLst>
              <a:ext uri="{FF2B5EF4-FFF2-40B4-BE49-F238E27FC236}">
                <a16:creationId xmlns:a16="http://schemas.microsoft.com/office/drawing/2014/main" id="{E9DC9E88-ED5E-A322-CEF0-BA8C7730DD17}"/>
              </a:ext>
            </a:extLst>
          </p:cNvPr>
          <p:cNvGrpSpPr/>
          <p:nvPr userDrawn="1"/>
        </p:nvGrpSpPr>
        <p:grpSpPr>
          <a:xfrm>
            <a:off x="5702149" y="6125021"/>
            <a:ext cx="2345580" cy="508191"/>
            <a:chOff x="-1" y="0"/>
            <a:chExt cx="4690853" cy="1016381"/>
          </a:xfrm>
        </p:grpSpPr>
        <p:grpSp>
          <p:nvGrpSpPr>
            <p:cNvPr id="45" name="Raggruppa">
              <a:extLst>
                <a:ext uri="{FF2B5EF4-FFF2-40B4-BE49-F238E27FC236}">
                  <a16:creationId xmlns:a16="http://schemas.microsoft.com/office/drawing/2014/main" id="{0AAB06EA-BD72-204E-2331-5ADA684865D6}"/>
                </a:ext>
              </a:extLst>
            </p:cNvPr>
            <p:cNvGrpSpPr/>
            <p:nvPr/>
          </p:nvGrpSpPr>
          <p:grpSpPr>
            <a:xfrm>
              <a:off x="-1" y="0"/>
              <a:ext cx="2032314" cy="1016381"/>
              <a:chOff x="0" y="0"/>
              <a:chExt cx="2032313" cy="1016380"/>
            </a:xfrm>
          </p:grpSpPr>
          <p:sp>
            <p:nvSpPr>
              <p:cNvPr id="49" name="Logo">
                <a:extLst>
                  <a:ext uri="{FF2B5EF4-FFF2-40B4-BE49-F238E27FC236}">
                    <a16:creationId xmlns:a16="http://schemas.microsoft.com/office/drawing/2014/main" id="{E2A46CB7-6126-FAF4-587A-DD55008E4667}"/>
                  </a:ext>
                </a:extLst>
              </p:cNvPr>
              <p:cNvSpPr txBox="1"/>
              <p:nvPr/>
            </p:nvSpPr>
            <p:spPr>
              <a:xfrm>
                <a:off x="1009665" y="190150"/>
                <a:ext cx="1022648" cy="6360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800">
                    <a:solidFill>
                      <a:srgbClr val="D5D5D5"/>
                    </a:solidFill>
                  </a:defRPr>
                </a:lvl1pPr>
              </a:lstStyle>
              <a:p>
                <a:r>
                  <a:rPr sz="1400">
                    <a:latin typeface="Manrope" pitchFamily="2" charset="0"/>
                  </a:rPr>
                  <a:t>Logo</a:t>
                </a:r>
              </a:p>
            </p:txBody>
          </p:sp>
          <p:sp>
            <p:nvSpPr>
              <p:cNvPr id="50" name="Triangolo">
                <a:extLst>
                  <a:ext uri="{FF2B5EF4-FFF2-40B4-BE49-F238E27FC236}">
                    <a16:creationId xmlns:a16="http://schemas.microsoft.com/office/drawing/2014/main" id="{49414913-DF6E-3124-0037-4413F4E9DBA5}"/>
                  </a:ext>
                </a:extLst>
              </p:cNvPr>
              <p:cNvSpPr/>
              <p:nvPr/>
            </p:nvSpPr>
            <p:spPr>
              <a:xfrm>
                <a:off x="0" y="0"/>
                <a:ext cx="1016380" cy="10163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D5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412756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6" name="Raggruppa">
              <a:extLst>
                <a:ext uri="{FF2B5EF4-FFF2-40B4-BE49-F238E27FC236}">
                  <a16:creationId xmlns:a16="http://schemas.microsoft.com/office/drawing/2014/main" id="{2E1D7F5F-ABE7-5DE5-9E9B-5271458A6691}"/>
                </a:ext>
              </a:extLst>
            </p:cNvPr>
            <p:cNvGrpSpPr/>
            <p:nvPr/>
          </p:nvGrpSpPr>
          <p:grpSpPr>
            <a:xfrm>
              <a:off x="2519023" y="0"/>
              <a:ext cx="2171829" cy="1016381"/>
              <a:chOff x="0" y="0"/>
              <a:chExt cx="2171826" cy="1016380"/>
            </a:xfrm>
          </p:grpSpPr>
          <p:sp>
            <p:nvSpPr>
              <p:cNvPr id="47" name="Logo">
                <a:extLst>
                  <a:ext uri="{FF2B5EF4-FFF2-40B4-BE49-F238E27FC236}">
                    <a16:creationId xmlns:a16="http://schemas.microsoft.com/office/drawing/2014/main" id="{FB792114-1E03-A8B8-F9F6-0BD1E522B30C}"/>
                  </a:ext>
                </a:extLst>
              </p:cNvPr>
              <p:cNvSpPr txBox="1"/>
              <p:nvPr/>
            </p:nvSpPr>
            <p:spPr>
              <a:xfrm>
                <a:off x="1149178" y="190150"/>
                <a:ext cx="1022648" cy="6360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800">
                    <a:solidFill>
                      <a:srgbClr val="D5D5D5"/>
                    </a:solidFill>
                  </a:defRPr>
                </a:lvl1pPr>
              </a:lstStyle>
              <a:p>
                <a:r>
                  <a:rPr sz="1400">
                    <a:latin typeface="Manrope" pitchFamily="2" charset="0"/>
                  </a:rPr>
                  <a:t>Logo</a:t>
                </a:r>
              </a:p>
            </p:txBody>
          </p:sp>
          <p:sp>
            <p:nvSpPr>
              <p:cNvPr id="48" name="Rettangolo arrotondato">
                <a:extLst>
                  <a:ext uri="{FF2B5EF4-FFF2-40B4-BE49-F238E27FC236}">
                    <a16:creationId xmlns:a16="http://schemas.microsoft.com/office/drawing/2014/main" id="{51D7D47B-E4A9-117B-C867-618C7B14273D}"/>
                  </a:ext>
                </a:extLst>
              </p:cNvPr>
              <p:cNvSpPr/>
              <p:nvPr/>
            </p:nvSpPr>
            <p:spPr>
              <a:xfrm>
                <a:off x="0" y="0"/>
                <a:ext cx="1016380" cy="1016380"/>
              </a:xfrm>
              <a:prstGeom prst="roundRect">
                <a:avLst>
                  <a:gd name="adj" fmla="val 9826"/>
                </a:avLst>
              </a:prstGeom>
              <a:solidFill>
                <a:srgbClr val="D5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412756">
                  <a:defRPr sz="3200">
                    <a:solidFill>
                      <a:srgbClr val="D5D5D5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2" name="Titolo 5">
            <a:extLst>
              <a:ext uri="{FF2B5EF4-FFF2-40B4-BE49-F238E27FC236}">
                <a16:creationId xmlns:a16="http://schemas.microsoft.com/office/drawing/2014/main" id="{FAD942FF-4AE3-BA4F-0D20-F8F6CDA75D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287" y="1873912"/>
            <a:ext cx="10986218" cy="2324100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Inserire titolo</a:t>
            </a:r>
          </a:p>
        </p:txBody>
      </p:sp>
      <p:sp>
        <p:nvSpPr>
          <p:cNvPr id="53" name="Tema / Titolo / Docente  |  00. 00. 0000">
            <a:extLst>
              <a:ext uri="{FF2B5EF4-FFF2-40B4-BE49-F238E27FC236}">
                <a16:creationId xmlns:a16="http://schemas.microsoft.com/office/drawing/2014/main" id="{21E39AD4-D17D-DA18-8557-753A1598EDBB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494701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2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sp>
        <p:nvSpPr>
          <p:cNvPr id="31" name="Cerchio">
            <a:extLst>
              <a:ext uri="{FF2B5EF4-FFF2-40B4-BE49-F238E27FC236}">
                <a16:creationId xmlns:a16="http://schemas.microsoft.com/office/drawing/2014/main" id="{A9903704-CFC7-476C-9852-F48766C69614}"/>
              </a:ext>
            </a:extLst>
          </p:cNvPr>
          <p:cNvSpPr/>
          <p:nvPr userDrawn="1"/>
        </p:nvSpPr>
        <p:spPr>
          <a:xfrm rot="10800000">
            <a:off x="7559558" y="-2130267"/>
            <a:ext cx="4010434" cy="4010172"/>
          </a:xfrm>
          <a:prstGeom prst="ellipse">
            <a:avLst/>
          </a:prstGeom>
          <a:gradFill flip="none" rotWithShape="1">
            <a:gsLst>
              <a:gs pos="14000">
                <a:schemeClr val="accent2"/>
              </a:gs>
              <a:gs pos="13661">
                <a:srgbClr val="8896A9">
                  <a:alpha val="15184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32" name="Cerchio">
            <a:extLst>
              <a:ext uri="{FF2B5EF4-FFF2-40B4-BE49-F238E27FC236}">
                <a16:creationId xmlns:a16="http://schemas.microsoft.com/office/drawing/2014/main" id="{A6756836-4360-4832-91E9-DC1FED362D89}"/>
              </a:ext>
            </a:extLst>
          </p:cNvPr>
          <p:cNvSpPr/>
          <p:nvPr userDrawn="1"/>
        </p:nvSpPr>
        <p:spPr>
          <a:xfrm>
            <a:off x="7559560" y="1879907"/>
            <a:ext cx="4010432" cy="4010171"/>
          </a:xfrm>
          <a:prstGeom prst="ellipse">
            <a:avLst/>
          </a:prstGeom>
          <a:gradFill flip="none" rotWithShape="1">
            <a:gsLst>
              <a:gs pos="14000">
                <a:schemeClr val="accent2"/>
              </a:gs>
              <a:gs pos="13661">
                <a:srgbClr val="8896A9">
                  <a:alpha val="15184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lvl="0" algn="ctr" defTabSz="412756"/>
            <a:endParaRPr sz="1600" b="0" i="0">
              <a:solidFill>
                <a:srgbClr val="FFFFFF"/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21D738D7-7E88-4675-A0EF-E3BAD613F5D5}"/>
              </a:ext>
            </a:extLst>
          </p:cNvPr>
          <p:cNvCxnSpPr>
            <a:cxnSpLocks/>
          </p:cNvCxnSpPr>
          <p:nvPr userDrawn="1"/>
        </p:nvCxnSpPr>
        <p:spPr>
          <a:xfrm>
            <a:off x="11569992" y="-973483"/>
            <a:ext cx="0" cy="685800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diritto 53">
            <a:extLst>
              <a:ext uri="{FF2B5EF4-FFF2-40B4-BE49-F238E27FC236}">
                <a16:creationId xmlns:a16="http://schemas.microsoft.com/office/drawing/2014/main" id="{F9039971-82D3-47A9-A22B-57F88091170C}"/>
              </a:ext>
            </a:extLst>
          </p:cNvPr>
          <p:cNvCxnSpPr>
            <a:cxnSpLocks/>
          </p:cNvCxnSpPr>
          <p:nvPr userDrawn="1"/>
        </p:nvCxnSpPr>
        <p:spPr>
          <a:xfrm>
            <a:off x="7559558" y="-973483"/>
            <a:ext cx="0" cy="685800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diritto 54">
            <a:extLst>
              <a:ext uri="{FF2B5EF4-FFF2-40B4-BE49-F238E27FC236}">
                <a16:creationId xmlns:a16="http://schemas.microsoft.com/office/drawing/2014/main" id="{646E7D75-6D87-4823-9E66-BDAA6D07313A}"/>
              </a:ext>
            </a:extLst>
          </p:cNvPr>
          <p:cNvCxnSpPr>
            <a:cxnSpLocks/>
          </p:cNvCxnSpPr>
          <p:nvPr userDrawn="1"/>
        </p:nvCxnSpPr>
        <p:spPr>
          <a:xfrm>
            <a:off x="0" y="1879907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Elemento grafico 26">
            <a:extLst>
              <a:ext uri="{FF2B5EF4-FFF2-40B4-BE49-F238E27FC236}">
                <a16:creationId xmlns:a16="http://schemas.microsoft.com/office/drawing/2014/main" id="{9765ECF3-D893-4FC6-A1DC-FA16A5C3E3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2757" y="6134792"/>
            <a:ext cx="31275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5006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e 26">
            <a:extLst>
              <a:ext uri="{FF2B5EF4-FFF2-40B4-BE49-F238E27FC236}">
                <a16:creationId xmlns:a16="http://schemas.microsoft.com/office/drawing/2014/main" id="{3660D8AF-E5B8-4BEC-B9C7-E7F4AA7B4124}"/>
              </a:ext>
            </a:extLst>
          </p:cNvPr>
          <p:cNvSpPr/>
          <p:nvPr userDrawn="1"/>
        </p:nvSpPr>
        <p:spPr>
          <a:xfrm>
            <a:off x="2609" y="1424519"/>
            <a:ext cx="10887979" cy="10887270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4500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 sz="900">
              <a:latin typeface="Manrope" pitchFamily="2" charset="0"/>
            </a:endParaRPr>
          </a:p>
        </p:txBody>
      </p:sp>
      <p:sp>
        <p:nvSpPr>
          <p:cNvPr id="29" name="Linea">
            <a:extLst>
              <a:ext uri="{FF2B5EF4-FFF2-40B4-BE49-F238E27FC236}">
                <a16:creationId xmlns:a16="http://schemas.microsoft.com/office/drawing/2014/main" id="{6958CE40-0469-4F4F-B2A3-16FC46F1EE78}"/>
              </a:ext>
            </a:extLst>
          </p:cNvPr>
          <p:cNvSpPr/>
          <p:nvPr userDrawn="1"/>
        </p:nvSpPr>
        <p:spPr>
          <a:xfrm>
            <a:off x="0" y="1416971"/>
            <a:ext cx="12192795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sp>
        <p:nvSpPr>
          <p:cNvPr id="30" name="Linea">
            <a:extLst>
              <a:ext uri="{FF2B5EF4-FFF2-40B4-BE49-F238E27FC236}">
                <a16:creationId xmlns:a16="http://schemas.microsoft.com/office/drawing/2014/main" id="{6D745DF5-35F2-4521-823F-7D14073A97E9}"/>
              </a:ext>
            </a:extLst>
          </p:cNvPr>
          <p:cNvSpPr/>
          <p:nvPr userDrawn="1"/>
        </p:nvSpPr>
        <p:spPr>
          <a:xfrm rot="10800000" flipH="1">
            <a:off x="10895557" y="-1590"/>
            <a:ext cx="1" cy="6855889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  <a:miter lim="400000"/>
          </a:ln>
        </p:spPr>
        <p:txBody>
          <a:bodyPr lIns="25399" tIns="25399" rIns="25399" bIns="25399" anchor="ctr"/>
          <a:lstStyle/>
          <a:p>
            <a:endParaRPr sz="1200">
              <a:latin typeface="Manrope" pitchFamily="2" charset="0"/>
            </a:endParaRPr>
          </a:p>
        </p:txBody>
      </p:sp>
      <p:sp>
        <p:nvSpPr>
          <p:cNvPr id="51" name="Ovale 50">
            <a:extLst>
              <a:ext uri="{FF2B5EF4-FFF2-40B4-BE49-F238E27FC236}">
                <a16:creationId xmlns:a16="http://schemas.microsoft.com/office/drawing/2014/main" id="{485EA396-F5B1-4D22-BDB2-B638B93E29B1}"/>
              </a:ext>
            </a:extLst>
          </p:cNvPr>
          <p:cNvSpPr/>
          <p:nvPr userDrawn="1"/>
        </p:nvSpPr>
        <p:spPr>
          <a:xfrm>
            <a:off x="2609" y="-9484154"/>
            <a:ext cx="10887979" cy="10887270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4500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>
              <a:latin typeface="Manrope" pitchFamily="2" charset="0"/>
            </a:endParaRPr>
          </a:p>
        </p:txBody>
      </p:sp>
      <p:sp>
        <p:nvSpPr>
          <p:cNvPr id="34" name="t">
            <a:extLst>
              <a:ext uri="{FF2B5EF4-FFF2-40B4-BE49-F238E27FC236}">
                <a16:creationId xmlns:a16="http://schemas.microsoft.com/office/drawing/2014/main" id="{5904BB58-3F14-9C88-2C51-FC53AD74ECDB}"/>
              </a:ext>
            </a:extLst>
          </p:cNvPr>
          <p:cNvSpPr/>
          <p:nvPr userDrawn="1"/>
        </p:nvSpPr>
        <p:spPr>
          <a:xfrm>
            <a:off x="-13900" y="5890078"/>
            <a:ext cx="12220596" cy="97807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algn="ctr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60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grpSp>
        <p:nvGrpSpPr>
          <p:cNvPr id="35" name="Raggruppa">
            <a:extLst>
              <a:ext uri="{FF2B5EF4-FFF2-40B4-BE49-F238E27FC236}">
                <a16:creationId xmlns:a16="http://schemas.microsoft.com/office/drawing/2014/main" id="{10E0AFDC-3F66-1CFB-E987-27D87A91FC3E}"/>
              </a:ext>
            </a:extLst>
          </p:cNvPr>
          <p:cNvGrpSpPr/>
          <p:nvPr userDrawn="1"/>
        </p:nvGrpSpPr>
        <p:grpSpPr>
          <a:xfrm>
            <a:off x="4678770" y="6112429"/>
            <a:ext cx="774301" cy="512711"/>
            <a:chOff x="55030" y="-1"/>
            <a:chExt cx="1548497" cy="1025419"/>
          </a:xfrm>
        </p:grpSpPr>
        <p:sp>
          <p:nvSpPr>
            <p:cNvPr id="36" name="Dicitura 01">
              <a:extLst>
                <a:ext uri="{FF2B5EF4-FFF2-40B4-BE49-F238E27FC236}">
                  <a16:creationId xmlns:a16="http://schemas.microsoft.com/office/drawing/2014/main" id="{10073F5C-DD0F-6D06-4F37-6385373A1AB7}"/>
                </a:ext>
              </a:extLst>
            </p:cNvPr>
            <p:cNvSpPr txBox="1"/>
            <p:nvPr/>
          </p:nvSpPr>
          <p:spPr>
            <a:xfrm>
              <a:off x="55030" y="102541"/>
              <a:ext cx="1391313" cy="4821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r">
                <a:defRPr sz="2200">
                  <a:solidFill>
                    <a:srgbClr val="102C53"/>
                  </a:solidFill>
                </a:defRPr>
              </a:lvl1pPr>
            </a:lstStyle>
            <a:p>
              <a:r>
                <a:rPr sz="900" b="1" err="1">
                  <a:latin typeface="Manrope" pitchFamily="2" charset="0"/>
                </a:rPr>
                <a:t>Dicitura</a:t>
              </a:r>
              <a:r>
                <a:rPr sz="900" b="1">
                  <a:latin typeface="Manrope" pitchFamily="2" charset="0"/>
                </a:rPr>
                <a:t> 01</a:t>
              </a:r>
            </a:p>
          </p:txBody>
        </p:sp>
        <p:sp>
          <p:nvSpPr>
            <p:cNvPr id="37" name="Linea">
              <a:extLst>
                <a:ext uri="{FF2B5EF4-FFF2-40B4-BE49-F238E27FC236}">
                  <a16:creationId xmlns:a16="http://schemas.microsoft.com/office/drawing/2014/main" id="{A2D93BEA-CDAB-B761-4314-7A4D96C6DDEB}"/>
                </a:ext>
              </a:extLst>
            </p:cNvPr>
            <p:cNvSpPr/>
            <p:nvPr/>
          </p:nvSpPr>
          <p:spPr>
            <a:xfrm flipV="1">
              <a:off x="1603526" y="-1"/>
              <a:ext cx="1" cy="1025419"/>
            </a:xfrm>
            <a:prstGeom prst="line">
              <a:avLst/>
            </a:prstGeom>
            <a:noFill/>
            <a:ln w="9525" cap="flat">
              <a:solidFill>
                <a:srgbClr val="102C53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sz="338">
                <a:latin typeface="Manrope" pitchFamily="2" charset="0"/>
              </a:endParaRPr>
            </a:p>
          </p:txBody>
        </p:sp>
      </p:grpSp>
      <p:grpSp>
        <p:nvGrpSpPr>
          <p:cNvPr id="38" name="Raggruppa">
            <a:extLst>
              <a:ext uri="{FF2B5EF4-FFF2-40B4-BE49-F238E27FC236}">
                <a16:creationId xmlns:a16="http://schemas.microsoft.com/office/drawing/2014/main" id="{56DCEED6-6F0E-CCBB-2279-C15A32771039}"/>
              </a:ext>
            </a:extLst>
          </p:cNvPr>
          <p:cNvGrpSpPr/>
          <p:nvPr userDrawn="1"/>
        </p:nvGrpSpPr>
        <p:grpSpPr>
          <a:xfrm>
            <a:off x="8291202" y="6112429"/>
            <a:ext cx="790072" cy="512711"/>
            <a:chOff x="70058" y="-1"/>
            <a:chExt cx="1580036" cy="1025419"/>
          </a:xfrm>
        </p:grpSpPr>
        <p:sp>
          <p:nvSpPr>
            <p:cNvPr id="39" name="Dicitura 02">
              <a:extLst>
                <a:ext uri="{FF2B5EF4-FFF2-40B4-BE49-F238E27FC236}">
                  <a16:creationId xmlns:a16="http://schemas.microsoft.com/office/drawing/2014/main" id="{65F304E2-7E9C-B774-6D16-605FDABF18A3}"/>
                </a:ext>
              </a:extLst>
            </p:cNvPr>
            <p:cNvSpPr txBox="1"/>
            <p:nvPr/>
          </p:nvSpPr>
          <p:spPr>
            <a:xfrm>
              <a:off x="70058" y="102541"/>
              <a:ext cx="1426577" cy="4821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r">
                <a:defRPr sz="2200">
                  <a:solidFill>
                    <a:srgbClr val="102C53"/>
                  </a:solidFill>
                </a:defRPr>
              </a:lvl1pPr>
            </a:lstStyle>
            <a:p>
              <a:r>
                <a:rPr sz="900" b="1" err="1">
                  <a:latin typeface="Manrope" pitchFamily="2" charset="0"/>
                </a:rPr>
                <a:t>Dicitura</a:t>
              </a:r>
              <a:r>
                <a:rPr sz="900" b="1">
                  <a:latin typeface="Manrope" pitchFamily="2" charset="0"/>
                </a:rPr>
                <a:t> 02</a:t>
              </a:r>
            </a:p>
          </p:txBody>
        </p:sp>
        <p:sp>
          <p:nvSpPr>
            <p:cNvPr id="40" name="Linea">
              <a:extLst>
                <a:ext uri="{FF2B5EF4-FFF2-40B4-BE49-F238E27FC236}">
                  <a16:creationId xmlns:a16="http://schemas.microsoft.com/office/drawing/2014/main" id="{0D3513D8-03DF-07FB-C95C-75AB43EA944A}"/>
                </a:ext>
              </a:extLst>
            </p:cNvPr>
            <p:cNvSpPr/>
            <p:nvPr/>
          </p:nvSpPr>
          <p:spPr>
            <a:xfrm flipV="1">
              <a:off x="1650093" y="-1"/>
              <a:ext cx="1" cy="1025419"/>
            </a:xfrm>
            <a:prstGeom prst="line">
              <a:avLst/>
            </a:prstGeom>
            <a:noFill/>
            <a:ln w="9525" cap="flat">
              <a:solidFill>
                <a:srgbClr val="102C53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sz="338">
                <a:latin typeface="Manrope" pitchFamily="2" charset="0"/>
              </a:endParaRPr>
            </a:p>
          </p:txBody>
        </p:sp>
      </p:grpSp>
      <p:grpSp>
        <p:nvGrpSpPr>
          <p:cNvPr id="41" name="Raggruppa">
            <a:extLst>
              <a:ext uri="{FF2B5EF4-FFF2-40B4-BE49-F238E27FC236}">
                <a16:creationId xmlns:a16="http://schemas.microsoft.com/office/drawing/2014/main" id="{EE4E4B32-B5F8-3F30-EE38-C91ECC226870}"/>
              </a:ext>
            </a:extLst>
          </p:cNvPr>
          <p:cNvGrpSpPr/>
          <p:nvPr userDrawn="1"/>
        </p:nvGrpSpPr>
        <p:grpSpPr>
          <a:xfrm>
            <a:off x="9328958" y="6152538"/>
            <a:ext cx="979517" cy="453158"/>
            <a:chOff x="60711" y="0"/>
            <a:chExt cx="1958904" cy="906313"/>
          </a:xfrm>
        </p:grpSpPr>
        <p:sp>
          <p:nvSpPr>
            <p:cNvPr id="42" name="Logo">
              <a:extLst>
                <a:ext uri="{FF2B5EF4-FFF2-40B4-BE49-F238E27FC236}">
                  <a16:creationId xmlns:a16="http://schemas.microsoft.com/office/drawing/2014/main" id="{01F912F9-4CA7-0309-4362-4AE504D449B0}"/>
                </a:ext>
              </a:extLst>
            </p:cNvPr>
            <p:cNvSpPr txBox="1"/>
            <p:nvPr/>
          </p:nvSpPr>
          <p:spPr>
            <a:xfrm>
              <a:off x="996967" y="135122"/>
              <a:ext cx="1022648" cy="6360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>
                  <a:solidFill>
                    <a:srgbClr val="D5D5D5"/>
                  </a:solidFill>
                </a:defRPr>
              </a:lvl1pPr>
            </a:lstStyle>
            <a:p>
              <a:r>
                <a:rPr sz="1400">
                  <a:latin typeface="Manrope" pitchFamily="2" charset="0"/>
                </a:rPr>
                <a:t>Logo</a:t>
              </a:r>
            </a:p>
          </p:txBody>
        </p:sp>
        <p:sp>
          <p:nvSpPr>
            <p:cNvPr id="43" name="Poligono">
              <a:extLst>
                <a:ext uri="{FF2B5EF4-FFF2-40B4-BE49-F238E27FC236}">
                  <a16:creationId xmlns:a16="http://schemas.microsoft.com/office/drawing/2014/main" id="{1A2CDB77-2460-9096-7611-C3E31F3AB038}"/>
                </a:ext>
              </a:extLst>
            </p:cNvPr>
            <p:cNvSpPr/>
            <p:nvPr/>
          </p:nvSpPr>
          <p:spPr>
            <a:xfrm>
              <a:off x="60711" y="0"/>
              <a:ext cx="784891" cy="906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D5D5D5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412756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4" name="Raggruppa">
            <a:extLst>
              <a:ext uri="{FF2B5EF4-FFF2-40B4-BE49-F238E27FC236}">
                <a16:creationId xmlns:a16="http://schemas.microsoft.com/office/drawing/2014/main" id="{E9DC9E88-ED5E-A322-CEF0-BA8C7730DD17}"/>
              </a:ext>
            </a:extLst>
          </p:cNvPr>
          <p:cNvGrpSpPr/>
          <p:nvPr userDrawn="1"/>
        </p:nvGrpSpPr>
        <p:grpSpPr>
          <a:xfrm>
            <a:off x="5702149" y="6125021"/>
            <a:ext cx="2345580" cy="508191"/>
            <a:chOff x="-1" y="0"/>
            <a:chExt cx="4690853" cy="1016381"/>
          </a:xfrm>
        </p:grpSpPr>
        <p:grpSp>
          <p:nvGrpSpPr>
            <p:cNvPr id="45" name="Raggruppa">
              <a:extLst>
                <a:ext uri="{FF2B5EF4-FFF2-40B4-BE49-F238E27FC236}">
                  <a16:creationId xmlns:a16="http://schemas.microsoft.com/office/drawing/2014/main" id="{0AAB06EA-BD72-204E-2331-5ADA684865D6}"/>
                </a:ext>
              </a:extLst>
            </p:cNvPr>
            <p:cNvGrpSpPr/>
            <p:nvPr/>
          </p:nvGrpSpPr>
          <p:grpSpPr>
            <a:xfrm>
              <a:off x="-1" y="0"/>
              <a:ext cx="2032314" cy="1016381"/>
              <a:chOff x="0" y="0"/>
              <a:chExt cx="2032313" cy="1016380"/>
            </a:xfrm>
          </p:grpSpPr>
          <p:sp>
            <p:nvSpPr>
              <p:cNvPr id="49" name="Logo">
                <a:extLst>
                  <a:ext uri="{FF2B5EF4-FFF2-40B4-BE49-F238E27FC236}">
                    <a16:creationId xmlns:a16="http://schemas.microsoft.com/office/drawing/2014/main" id="{E2A46CB7-6126-FAF4-587A-DD55008E4667}"/>
                  </a:ext>
                </a:extLst>
              </p:cNvPr>
              <p:cNvSpPr txBox="1"/>
              <p:nvPr/>
            </p:nvSpPr>
            <p:spPr>
              <a:xfrm>
                <a:off x="1009665" y="190150"/>
                <a:ext cx="1022648" cy="6360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800">
                    <a:solidFill>
                      <a:srgbClr val="D5D5D5"/>
                    </a:solidFill>
                  </a:defRPr>
                </a:lvl1pPr>
              </a:lstStyle>
              <a:p>
                <a:r>
                  <a:rPr sz="1400">
                    <a:latin typeface="Manrope" pitchFamily="2" charset="0"/>
                  </a:rPr>
                  <a:t>Logo</a:t>
                </a:r>
              </a:p>
            </p:txBody>
          </p:sp>
          <p:sp>
            <p:nvSpPr>
              <p:cNvPr id="50" name="Triangolo">
                <a:extLst>
                  <a:ext uri="{FF2B5EF4-FFF2-40B4-BE49-F238E27FC236}">
                    <a16:creationId xmlns:a16="http://schemas.microsoft.com/office/drawing/2014/main" id="{49414913-DF6E-3124-0037-4413F4E9DBA5}"/>
                  </a:ext>
                </a:extLst>
              </p:cNvPr>
              <p:cNvSpPr/>
              <p:nvPr/>
            </p:nvSpPr>
            <p:spPr>
              <a:xfrm>
                <a:off x="0" y="0"/>
                <a:ext cx="1016380" cy="10163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D5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412756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6" name="Raggruppa">
              <a:extLst>
                <a:ext uri="{FF2B5EF4-FFF2-40B4-BE49-F238E27FC236}">
                  <a16:creationId xmlns:a16="http://schemas.microsoft.com/office/drawing/2014/main" id="{2E1D7F5F-ABE7-5DE5-9E9B-5271458A6691}"/>
                </a:ext>
              </a:extLst>
            </p:cNvPr>
            <p:cNvGrpSpPr/>
            <p:nvPr/>
          </p:nvGrpSpPr>
          <p:grpSpPr>
            <a:xfrm>
              <a:off x="2519023" y="0"/>
              <a:ext cx="2171829" cy="1016381"/>
              <a:chOff x="0" y="0"/>
              <a:chExt cx="2171826" cy="1016380"/>
            </a:xfrm>
          </p:grpSpPr>
          <p:sp>
            <p:nvSpPr>
              <p:cNvPr id="47" name="Logo">
                <a:extLst>
                  <a:ext uri="{FF2B5EF4-FFF2-40B4-BE49-F238E27FC236}">
                    <a16:creationId xmlns:a16="http://schemas.microsoft.com/office/drawing/2014/main" id="{FB792114-1E03-A8B8-F9F6-0BD1E522B30C}"/>
                  </a:ext>
                </a:extLst>
              </p:cNvPr>
              <p:cNvSpPr txBox="1"/>
              <p:nvPr/>
            </p:nvSpPr>
            <p:spPr>
              <a:xfrm>
                <a:off x="1149178" y="190150"/>
                <a:ext cx="1022648" cy="6360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800">
                    <a:solidFill>
                      <a:srgbClr val="D5D5D5"/>
                    </a:solidFill>
                  </a:defRPr>
                </a:lvl1pPr>
              </a:lstStyle>
              <a:p>
                <a:r>
                  <a:rPr sz="1400">
                    <a:latin typeface="Manrope" pitchFamily="2" charset="0"/>
                  </a:rPr>
                  <a:t>Logo</a:t>
                </a:r>
              </a:p>
            </p:txBody>
          </p:sp>
          <p:sp>
            <p:nvSpPr>
              <p:cNvPr id="48" name="Rettangolo arrotondato">
                <a:extLst>
                  <a:ext uri="{FF2B5EF4-FFF2-40B4-BE49-F238E27FC236}">
                    <a16:creationId xmlns:a16="http://schemas.microsoft.com/office/drawing/2014/main" id="{51D7D47B-E4A9-117B-C867-618C7B14273D}"/>
                  </a:ext>
                </a:extLst>
              </p:cNvPr>
              <p:cNvSpPr/>
              <p:nvPr/>
            </p:nvSpPr>
            <p:spPr>
              <a:xfrm>
                <a:off x="0" y="0"/>
                <a:ext cx="1016380" cy="1016380"/>
              </a:xfrm>
              <a:prstGeom prst="roundRect">
                <a:avLst>
                  <a:gd name="adj" fmla="val 9826"/>
                </a:avLst>
              </a:prstGeom>
              <a:solidFill>
                <a:srgbClr val="D5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412756">
                  <a:defRPr sz="3200">
                    <a:solidFill>
                      <a:srgbClr val="D5D5D5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2" name="Titolo 5">
            <a:extLst>
              <a:ext uri="{FF2B5EF4-FFF2-40B4-BE49-F238E27FC236}">
                <a16:creationId xmlns:a16="http://schemas.microsoft.com/office/drawing/2014/main" id="{FAD942FF-4AE3-BA4F-0D20-F8F6CDA75D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287" y="1873912"/>
            <a:ext cx="10986218" cy="2324100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Inserire titolo</a:t>
            </a:r>
          </a:p>
        </p:txBody>
      </p:sp>
      <p:sp>
        <p:nvSpPr>
          <p:cNvPr id="53" name="Tema / Titolo / Docente  |  00. 00. 0000">
            <a:extLst>
              <a:ext uri="{FF2B5EF4-FFF2-40B4-BE49-F238E27FC236}">
                <a16:creationId xmlns:a16="http://schemas.microsoft.com/office/drawing/2014/main" id="{21E39AD4-D17D-DA18-8557-753A1598EDBB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494701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2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pic>
        <p:nvPicPr>
          <p:cNvPr id="31" name="Elemento grafico 30">
            <a:extLst>
              <a:ext uri="{FF2B5EF4-FFF2-40B4-BE49-F238E27FC236}">
                <a16:creationId xmlns:a16="http://schemas.microsoft.com/office/drawing/2014/main" id="{32371DC7-5F83-4FA3-96ED-42AC15EE2A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2757" y="6134792"/>
            <a:ext cx="31275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5338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ea">
            <a:extLst>
              <a:ext uri="{FF2B5EF4-FFF2-40B4-BE49-F238E27FC236}">
                <a16:creationId xmlns:a16="http://schemas.microsoft.com/office/drawing/2014/main" id="{06A5565B-3792-761F-D5E8-89E83049F337}"/>
              </a:ext>
            </a:extLst>
          </p:cNvPr>
          <p:cNvSpPr/>
          <p:nvPr userDrawn="1"/>
        </p:nvSpPr>
        <p:spPr>
          <a:xfrm>
            <a:off x="0" y="3429000"/>
            <a:ext cx="12192795" cy="0"/>
          </a:xfrm>
          <a:prstGeom prst="line">
            <a:avLst/>
          </a:prstGeom>
          <a:ln w="6350">
            <a:solidFill>
              <a:srgbClr val="102C53">
                <a:alpha val="50000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sp>
        <p:nvSpPr>
          <p:cNvPr id="12" name="Linea">
            <a:extLst>
              <a:ext uri="{FF2B5EF4-FFF2-40B4-BE49-F238E27FC236}">
                <a16:creationId xmlns:a16="http://schemas.microsoft.com/office/drawing/2014/main" id="{39CEE595-3918-20DF-0A93-E1BE36E4BCF4}"/>
              </a:ext>
            </a:extLst>
          </p:cNvPr>
          <p:cNvSpPr/>
          <p:nvPr userDrawn="1"/>
        </p:nvSpPr>
        <p:spPr>
          <a:xfrm flipV="1">
            <a:off x="7572657" y="15448"/>
            <a:ext cx="0" cy="6827108"/>
          </a:xfrm>
          <a:prstGeom prst="line">
            <a:avLst/>
          </a:prstGeom>
          <a:ln w="6350">
            <a:solidFill>
              <a:srgbClr val="102C53">
                <a:alpha val="50000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sp>
        <p:nvSpPr>
          <p:cNvPr id="13" name="Linea">
            <a:extLst>
              <a:ext uri="{FF2B5EF4-FFF2-40B4-BE49-F238E27FC236}">
                <a16:creationId xmlns:a16="http://schemas.microsoft.com/office/drawing/2014/main" id="{1FF15F9B-EC12-8E00-194B-C92BF9532474}"/>
              </a:ext>
            </a:extLst>
          </p:cNvPr>
          <p:cNvSpPr/>
          <p:nvPr userDrawn="1"/>
        </p:nvSpPr>
        <p:spPr>
          <a:xfrm flipV="1">
            <a:off x="11583089" y="15448"/>
            <a:ext cx="0" cy="6827108"/>
          </a:xfrm>
          <a:prstGeom prst="line">
            <a:avLst/>
          </a:prstGeom>
          <a:ln w="6350">
            <a:solidFill>
              <a:srgbClr val="102C53">
                <a:alpha val="50000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sp>
        <p:nvSpPr>
          <p:cNvPr id="14" name="Tema / Titolo / Docente  |  00. 00. 0000">
            <a:extLst>
              <a:ext uri="{FF2B5EF4-FFF2-40B4-BE49-F238E27FC236}">
                <a16:creationId xmlns:a16="http://schemas.microsoft.com/office/drawing/2014/main" id="{1DCB0E58-CB34-9BB0-27A9-F358FEB81E9A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2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sp>
        <p:nvSpPr>
          <p:cNvPr id="17" name="Titolo 5">
            <a:extLst>
              <a:ext uri="{FF2B5EF4-FFF2-40B4-BE49-F238E27FC236}">
                <a16:creationId xmlns:a16="http://schemas.microsoft.com/office/drawing/2014/main" id="{4DAF60AC-FCFA-4F79-8AA6-85AC61BFA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287" y="3429000"/>
            <a:ext cx="6953096" cy="2324100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Inserire titolo</a:t>
            </a:r>
            <a:br>
              <a:rPr lang="it-IT"/>
            </a:br>
            <a:r>
              <a:rPr lang="it-IT"/>
              <a:t>Presentazione</a:t>
            </a:r>
          </a:p>
        </p:txBody>
      </p:sp>
      <p:sp>
        <p:nvSpPr>
          <p:cNvPr id="21" name="Cerchio">
            <a:extLst>
              <a:ext uri="{FF2B5EF4-FFF2-40B4-BE49-F238E27FC236}">
                <a16:creationId xmlns:a16="http://schemas.microsoft.com/office/drawing/2014/main" id="{6E7576C8-25DA-044B-E1DD-8104EE1A54CF}"/>
              </a:ext>
            </a:extLst>
          </p:cNvPr>
          <p:cNvSpPr/>
          <p:nvPr userDrawn="1"/>
        </p:nvSpPr>
        <p:spPr>
          <a:xfrm rot="5400000">
            <a:off x="7572787" y="-581302"/>
            <a:ext cx="4010172" cy="4010432"/>
          </a:xfrm>
          <a:prstGeom prst="ellipse">
            <a:avLst/>
          </a:prstGeom>
          <a:gradFill flip="none" rotWithShape="1">
            <a:gsLst>
              <a:gs pos="100000">
                <a:srgbClr val="FFFFFF">
                  <a:alpha val="0"/>
                </a:srgbClr>
              </a:gs>
              <a:gs pos="2000">
                <a:schemeClr val="accent1">
                  <a:alpha val="96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lvl="0" algn="ctr" defTabSz="412756"/>
            <a:endParaRPr sz="1600">
              <a:solidFill>
                <a:srgbClr val="FFFFFF"/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22" name="Cerchio">
            <a:extLst>
              <a:ext uri="{FF2B5EF4-FFF2-40B4-BE49-F238E27FC236}">
                <a16:creationId xmlns:a16="http://schemas.microsoft.com/office/drawing/2014/main" id="{30211EF7-C505-8055-D080-3F3D88BB6BE8}"/>
              </a:ext>
            </a:extLst>
          </p:cNvPr>
          <p:cNvSpPr/>
          <p:nvPr userDrawn="1"/>
        </p:nvSpPr>
        <p:spPr>
          <a:xfrm rot="16200000">
            <a:off x="7572787" y="3428871"/>
            <a:ext cx="4010172" cy="4010432"/>
          </a:xfrm>
          <a:prstGeom prst="ellipse">
            <a:avLst/>
          </a:prstGeom>
          <a:gradFill flip="none" rotWithShape="1">
            <a:gsLst>
              <a:gs pos="100000">
                <a:srgbClr val="FFFFFF">
                  <a:alpha val="0"/>
                </a:srgbClr>
              </a:gs>
              <a:gs pos="2000">
                <a:schemeClr val="accent1">
                  <a:alpha val="96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lvl="0" algn="ctr" defTabSz="412756"/>
            <a:endParaRPr sz="1600">
              <a:solidFill>
                <a:srgbClr val="FFFFFF"/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62928287-1B40-4298-A83D-B0E21C9C66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7559" y="558879"/>
            <a:ext cx="39615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7884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tudente-6.jpg">
            <a:extLst>
              <a:ext uri="{FF2B5EF4-FFF2-40B4-BE49-F238E27FC236}">
                <a16:creationId xmlns:a16="http://schemas.microsoft.com/office/drawing/2014/main" id="{DA0DDB76-F351-4164-94AE-C6D2D1E45F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16" r="20219" b="21157"/>
          <a:stretch/>
        </p:blipFill>
        <p:spPr>
          <a:xfrm flipH="1">
            <a:off x="1" y="-15446"/>
            <a:ext cx="12202569" cy="6873447"/>
          </a:xfrm>
          <a:prstGeom prst="rect">
            <a:avLst/>
          </a:prstGeom>
        </p:spPr>
      </p:pic>
      <p:sp>
        <p:nvSpPr>
          <p:cNvPr id="12" name="Rettangolo">
            <a:extLst>
              <a:ext uri="{FF2B5EF4-FFF2-40B4-BE49-F238E27FC236}">
                <a16:creationId xmlns:a16="http://schemas.microsoft.com/office/drawing/2014/main" id="{A66CE9DD-F14C-4A96-8D86-1FA07F6449E0}"/>
              </a:ext>
            </a:extLst>
          </p:cNvPr>
          <p:cNvSpPr/>
          <p:nvPr userDrawn="1"/>
        </p:nvSpPr>
        <p:spPr>
          <a:xfrm>
            <a:off x="-20346" y="19466"/>
            <a:ext cx="1221234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72000">
                <a:schemeClr val="accent1"/>
              </a:gs>
            </a:gsLst>
            <a:lin ang="5400000" scaled="0"/>
            <a:tileRect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Linea">
            <a:extLst>
              <a:ext uri="{FF2B5EF4-FFF2-40B4-BE49-F238E27FC236}">
                <a16:creationId xmlns:a16="http://schemas.microsoft.com/office/drawing/2014/main" id="{B39406AE-79B6-49A1-923B-123760D8505F}"/>
              </a:ext>
            </a:extLst>
          </p:cNvPr>
          <p:cNvSpPr/>
          <p:nvPr userDrawn="1"/>
        </p:nvSpPr>
        <p:spPr>
          <a:xfrm>
            <a:off x="0" y="1980994"/>
            <a:ext cx="12192795" cy="0"/>
          </a:xfrm>
          <a:prstGeom prst="line">
            <a:avLst/>
          </a:prstGeom>
          <a:ln w="6350">
            <a:solidFill>
              <a:schemeClr val="tx2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sp>
        <p:nvSpPr>
          <p:cNvPr id="17" name="Linea">
            <a:extLst>
              <a:ext uri="{FF2B5EF4-FFF2-40B4-BE49-F238E27FC236}">
                <a16:creationId xmlns:a16="http://schemas.microsoft.com/office/drawing/2014/main" id="{DCC9F3C9-7921-43F1-BB63-5744C63E565E}"/>
              </a:ext>
            </a:extLst>
          </p:cNvPr>
          <p:cNvSpPr/>
          <p:nvPr userDrawn="1"/>
        </p:nvSpPr>
        <p:spPr>
          <a:xfrm flipV="1">
            <a:off x="10715224" y="15448"/>
            <a:ext cx="0" cy="6876000"/>
          </a:xfrm>
          <a:prstGeom prst="line">
            <a:avLst/>
          </a:prstGeom>
          <a:ln w="6350">
            <a:solidFill>
              <a:schemeClr val="tx2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1CCADD42-EE9E-4858-B6FB-01BA6E38FAD3}"/>
              </a:ext>
            </a:extLst>
          </p:cNvPr>
          <p:cNvSpPr/>
          <p:nvPr userDrawn="1"/>
        </p:nvSpPr>
        <p:spPr>
          <a:xfrm rot="18900000">
            <a:off x="-172754" y="1980994"/>
            <a:ext cx="10887979" cy="10887270"/>
          </a:xfrm>
          <a:prstGeom prst="ellipse">
            <a:avLst/>
          </a:prstGeom>
          <a:gradFill flip="none" rotWithShape="1">
            <a:gsLst>
              <a:gs pos="85000">
                <a:srgbClr val="FFFFFF">
                  <a:alpha val="0"/>
                </a:srgbClr>
              </a:gs>
              <a:gs pos="0">
                <a:schemeClr val="accent3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lvl="0" algn="ctr" defTabSz="412756"/>
            <a:endParaRPr lang="it-IT" sz="1600">
              <a:solidFill>
                <a:srgbClr val="FFFFFF"/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5" name="Tema / Titolo / Docente  |  00. 00. 0000">
            <a:extLst>
              <a:ext uri="{FF2B5EF4-FFF2-40B4-BE49-F238E27FC236}">
                <a16:creationId xmlns:a16="http://schemas.microsoft.com/office/drawing/2014/main" id="{43EB2AAE-2F64-43C5-B8E8-F199350D7390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>
              <a:lnSpc>
                <a:spcPct val="100000"/>
              </a:lnSpc>
              <a:defRPr sz="1200">
                <a:solidFill>
                  <a:schemeClr val="tx2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sp>
        <p:nvSpPr>
          <p:cNvPr id="16" name="Titolo 5">
            <a:extLst>
              <a:ext uri="{FF2B5EF4-FFF2-40B4-BE49-F238E27FC236}">
                <a16:creationId xmlns:a16="http://schemas.microsoft.com/office/drawing/2014/main" id="{E8F7923B-B8EC-4C6A-A6CA-70D16747D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376" y="3448466"/>
            <a:ext cx="6953096" cy="2108271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Inserire titolo</a:t>
            </a:r>
            <a:br>
              <a:rPr lang="it-IT"/>
            </a:br>
            <a:r>
              <a:rPr lang="it-IT"/>
              <a:t>Presentazione</a:t>
            </a:r>
          </a:p>
        </p:txBody>
      </p:sp>
      <p:sp>
        <p:nvSpPr>
          <p:cNvPr id="18" name="Segnaposto testo 11">
            <a:extLst>
              <a:ext uri="{FF2B5EF4-FFF2-40B4-BE49-F238E27FC236}">
                <a16:creationId xmlns:a16="http://schemas.microsoft.com/office/drawing/2014/main" id="{7B2691BB-C18A-4BDF-B8C5-3FE9669646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0710" y="2898987"/>
            <a:ext cx="4833938" cy="392112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Sottotitolo</a:t>
            </a:r>
          </a:p>
        </p:txBody>
      </p:sp>
      <p:pic>
        <p:nvPicPr>
          <p:cNvPr id="20" name="Elemento grafico 19">
            <a:extLst>
              <a:ext uri="{FF2B5EF4-FFF2-40B4-BE49-F238E27FC236}">
                <a16:creationId xmlns:a16="http://schemas.microsoft.com/office/drawing/2014/main" id="{257864A1-DB19-4C3F-AA38-B2BC17C2C8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7559" y="558879"/>
            <a:ext cx="39615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5574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udente-6.jpg">
            <a:extLst>
              <a:ext uri="{FF2B5EF4-FFF2-40B4-BE49-F238E27FC236}">
                <a16:creationId xmlns:a16="http://schemas.microsoft.com/office/drawing/2014/main" id="{9A8088A1-BE02-A45C-F2B7-D9182C7D25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6" t="2094" r="38926" b="50000"/>
          <a:stretch/>
        </p:blipFill>
        <p:spPr>
          <a:xfrm>
            <a:off x="1" y="-15446"/>
            <a:ext cx="12202569" cy="6873447"/>
          </a:xfrm>
          <a:prstGeom prst="rect">
            <a:avLst/>
          </a:prstGeom>
        </p:spPr>
      </p:pic>
      <p:sp>
        <p:nvSpPr>
          <p:cNvPr id="13" name="Rettangolo">
            <a:extLst>
              <a:ext uri="{FF2B5EF4-FFF2-40B4-BE49-F238E27FC236}">
                <a16:creationId xmlns:a16="http://schemas.microsoft.com/office/drawing/2014/main" id="{C0958222-67A2-407E-B29D-7EAE366C03C4}"/>
              </a:ext>
            </a:extLst>
          </p:cNvPr>
          <p:cNvSpPr/>
          <p:nvPr userDrawn="1"/>
        </p:nvSpPr>
        <p:spPr>
          <a:xfrm>
            <a:off x="0" y="0"/>
            <a:ext cx="1221234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36000">
                <a:schemeClr val="accent1">
                  <a:alpha val="40000"/>
                </a:schemeClr>
              </a:gs>
              <a:gs pos="72000">
                <a:schemeClr val="accent1"/>
              </a:gs>
            </a:gsLst>
            <a:lin ang="5400000" scaled="0"/>
            <a:tileRect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Linea">
            <a:extLst>
              <a:ext uri="{FF2B5EF4-FFF2-40B4-BE49-F238E27FC236}">
                <a16:creationId xmlns:a16="http://schemas.microsoft.com/office/drawing/2014/main" id="{B39406AE-79B6-49A1-923B-123760D8505F}"/>
              </a:ext>
            </a:extLst>
          </p:cNvPr>
          <p:cNvSpPr/>
          <p:nvPr userDrawn="1"/>
        </p:nvSpPr>
        <p:spPr>
          <a:xfrm>
            <a:off x="0" y="1980994"/>
            <a:ext cx="12192795" cy="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sp>
        <p:nvSpPr>
          <p:cNvPr id="17" name="Linea">
            <a:extLst>
              <a:ext uri="{FF2B5EF4-FFF2-40B4-BE49-F238E27FC236}">
                <a16:creationId xmlns:a16="http://schemas.microsoft.com/office/drawing/2014/main" id="{DCC9F3C9-7921-43F1-BB63-5744C63E565E}"/>
              </a:ext>
            </a:extLst>
          </p:cNvPr>
          <p:cNvSpPr/>
          <p:nvPr userDrawn="1"/>
        </p:nvSpPr>
        <p:spPr>
          <a:xfrm flipV="1">
            <a:off x="10715224" y="-34429"/>
            <a:ext cx="0" cy="702000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1CCADD42-EE9E-4858-B6FB-01BA6E38FAD3}"/>
              </a:ext>
            </a:extLst>
          </p:cNvPr>
          <p:cNvSpPr/>
          <p:nvPr userDrawn="1"/>
        </p:nvSpPr>
        <p:spPr>
          <a:xfrm rot="20927104">
            <a:off x="-172754" y="1980994"/>
            <a:ext cx="10887979" cy="10887270"/>
          </a:xfrm>
          <a:prstGeom prst="ellipse">
            <a:avLst/>
          </a:prstGeom>
          <a:gradFill flip="none" rotWithShape="1">
            <a:gsLst>
              <a:gs pos="9000">
                <a:schemeClr val="bg1">
                  <a:alpha val="40000"/>
                </a:scheme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900">
              <a:latin typeface="Manrope" pitchFamily="2" charset="0"/>
            </a:endParaRPr>
          </a:p>
        </p:txBody>
      </p:sp>
      <p:sp>
        <p:nvSpPr>
          <p:cNvPr id="15" name="Tema / Titolo / Docente  |  00. 00. 0000">
            <a:extLst>
              <a:ext uri="{FF2B5EF4-FFF2-40B4-BE49-F238E27FC236}">
                <a16:creationId xmlns:a16="http://schemas.microsoft.com/office/drawing/2014/main" id="{43EB2AAE-2F64-43C5-B8E8-F199350D7390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>
              <a:lnSpc>
                <a:spcPct val="100000"/>
              </a:lnSpc>
              <a:defRPr sz="1200">
                <a:solidFill>
                  <a:schemeClr val="tx2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sp>
        <p:nvSpPr>
          <p:cNvPr id="16" name="Titolo 5">
            <a:extLst>
              <a:ext uri="{FF2B5EF4-FFF2-40B4-BE49-F238E27FC236}">
                <a16:creationId xmlns:a16="http://schemas.microsoft.com/office/drawing/2014/main" id="{E8F7923B-B8EC-4C6A-A6CA-70D16747D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376" y="3448466"/>
            <a:ext cx="6953096" cy="2108271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Inserire titolo</a:t>
            </a:r>
            <a:br>
              <a:rPr lang="it-IT"/>
            </a:br>
            <a:r>
              <a:rPr lang="it-IT"/>
              <a:t>Presentazione</a:t>
            </a:r>
          </a:p>
        </p:txBody>
      </p:sp>
      <p:sp>
        <p:nvSpPr>
          <p:cNvPr id="18" name="Segnaposto testo 11">
            <a:extLst>
              <a:ext uri="{FF2B5EF4-FFF2-40B4-BE49-F238E27FC236}">
                <a16:creationId xmlns:a16="http://schemas.microsoft.com/office/drawing/2014/main" id="{7B2691BB-C18A-4BDF-B8C5-3FE9669646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0710" y="2898987"/>
            <a:ext cx="4833938" cy="392112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Sottotitolo</a:t>
            </a:r>
          </a:p>
        </p:txBody>
      </p:sp>
      <p:pic>
        <p:nvPicPr>
          <p:cNvPr id="12" name="Elemento grafico 11">
            <a:extLst>
              <a:ext uri="{FF2B5EF4-FFF2-40B4-BE49-F238E27FC236}">
                <a16:creationId xmlns:a16="http://schemas.microsoft.com/office/drawing/2014/main" id="{25C6F6C8-9FAF-4916-AD2E-6973F96337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7559" y="558879"/>
            <a:ext cx="39615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8423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Fina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36158372-C12E-48BA-B16E-CD0317C85D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0075" y="5392132"/>
            <a:ext cx="3866418" cy="856291"/>
          </a:xfrm>
        </p:spPr>
        <p:txBody>
          <a:bodyPr anchor="b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20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it-IT"/>
              <a:t>Via</a:t>
            </a:r>
          </a:p>
          <a:p>
            <a:pPr lvl="0"/>
            <a:r>
              <a:rPr lang="it-IT"/>
              <a:t>T</a:t>
            </a:r>
          </a:p>
          <a:p>
            <a:pPr lvl="0"/>
            <a:r>
              <a:rPr lang="it-IT"/>
              <a:t>@ </a:t>
            </a:r>
          </a:p>
          <a:p>
            <a:pPr lvl="0"/>
            <a:r>
              <a:rPr lang="it-IT" err="1"/>
              <a:t>wwww</a:t>
            </a:r>
            <a:r>
              <a:rPr lang="it-IT"/>
              <a:t>.</a:t>
            </a:r>
          </a:p>
        </p:txBody>
      </p:sp>
      <p:sp>
        <p:nvSpPr>
          <p:cNvPr id="14" name="Cerchio">
            <a:extLst>
              <a:ext uri="{FF2B5EF4-FFF2-40B4-BE49-F238E27FC236}">
                <a16:creationId xmlns:a16="http://schemas.microsoft.com/office/drawing/2014/main" id="{B5A98BF0-37F7-46CF-98E8-56026EBEBEB8}"/>
              </a:ext>
            </a:extLst>
          </p:cNvPr>
          <p:cNvSpPr/>
          <p:nvPr userDrawn="1"/>
        </p:nvSpPr>
        <p:spPr>
          <a:xfrm rot="10800000">
            <a:off x="7559558" y="-1156784"/>
            <a:ext cx="4010434" cy="4010172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50000"/>
                </a:srgbClr>
              </a:gs>
              <a:gs pos="13661">
                <a:schemeClr val="accent4"/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lvl="0" algn="ctr" defTabSz="412756"/>
            <a:endParaRPr sz="1600" b="0" i="0">
              <a:solidFill>
                <a:srgbClr val="FFFFFF">
                  <a:alpha val="20092"/>
                </a:srgbClr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5" name="Cerchio">
            <a:extLst>
              <a:ext uri="{FF2B5EF4-FFF2-40B4-BE49-F238E27FC236}">
                <a16:creationId xmlns:a16="http://schemas.microsoft.com/office/drawing/2014/main" id="{1CFB0BC2-CF5D-4C80-91A5-B2FB9DDBB1C2}"/>
              </a:ext>
            </a:extLst>
          </p:cNvPr>
          <p:cNvSpPr/>
          <p:nvPr userDrawn="1"/>
        </p:nvSpPr>
        <p:spPr>
          <a:xfrm>
            <a:off x="7559558" y="2853390"/>
            <a:ext cx="4010432" cy="4010171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50000"/>
                </a:srgbClr>
              </a:gs>
              <a:gs pos="13661">
                <a:schemeClr val="accent4"/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>
                    <a:alpha val="20092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>
              <a:latin typeface="Manrope" pitchFamily="2" charset="0"/>
              <a:cs typeface="Arial" panose="020B0604020202020204" pitchFamily="34" charset="0"/>
            </a:endParaRPr>
          </a:p>
        </p:txBody>
      </p:sp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id="{22A5F901-2B40-46CC-9040-75BF8DEA41AF}"/>
              </a:ext>
            </a:extLst>
          </p:cNvPr>
          <p:cNvCxnSpPr>
            <a:cxnSpLocks/>
          </p:cNvCxnSpPr>
          <p:nvPr userDrawn="1"/>
        </p:nvCxnSpPr>
        <p:spPr>
          <a:xfrm>
            <a:off x="11569992" y="0"/>
            <a:ext cx="0" cy="685800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6BCF7785-BB58-48C4-BD31-CE4F3F723E13}"/>
              </a:ext>
            </a:extLst>
          </p:cNvPr>
          <p:cNvCxnSpPr>
            <a:cxnSpLocks/>
          </p:cNvCxnSpPr>
          <p:nvPr userDrawn="1"/>
        </p:nvCxnSpPr>
        <p:spPr>
          <a:xfrm>
            <a:off x="7559558" y="0"/>
            <a:ext cx="0" cy="685800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3B7664FB-610B-4E2F-A935-62A588DBE01F}"/>
              </a:ext>
            </a:extLst>
          </p:cNvPr>
          <p:cNvCxnSpPr>
            <a:cxnSpLocks/>
          </p:cNvCxnSpPr>
          <p:nvPr userDrawn="1"/>
        </p:nvCxnSpPr>
        <p:spPr>
          <a:xfrm>
            <a:off x="0" y="2853390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6538F45-6D1B-41E8-838C-C591B1FF478E}"/>
              </a:ext>
            </a:extLst>
          </p:cNvPr>
          <p:cNvSpPr txBox="1"/>
          <p:nvPr userDrawn="1"/>
        </p:nvSpPr>
        <p:spPr>
          <a:xfrm>
            <a:off x="516329" y="4858475"/>
            <a:ext cx="3932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1">
                <a:solidFill>
                  <a:schemeClr val="tx2"/>
                </a:solidFill>
              </a:rPr>
              <a:t>Contatti</a:t>
            </a:r>
          </a:p>
        </p:txBody>
      </p:sp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56DE899E-D107-4178-9083-4926B19DAB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7559" y="558879"/>
            <a:ext cx="39615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198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93F0EDA-05BE-4DD7-962F-394BE0791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11522075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F0C82C2-529C-45CC-B0FD-8E1A68BA4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2060575"/>
            <a:ext cx="11522075" cy="4429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0"/>
            <a:r>
              <a:rPr lang="it-IT"/>
              <a:t>Secondo livello</a:t>
            </a:r>
          </a:p>
          <a:p>
            <a:pPr lvl="0"/>
            <a:r>
              <a:rPr lang="it-IT"/>
              <a:t>Terzo livello</a:t>
            </a:r>
          </a:p>
          <a:p>
            <a:pPr lvl="0"/>
            <a:r>
              <a:rPr lang="it-IT"/>
              <a:t>Quarto livello</a:t>
            </a:r>
          </a:p>
          <a:p>
            <a:pPr lvl="0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0DE2DC-DBA6-437E-BB4E-13D6007AE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it-IT"/>
              <a:t>15/07/2026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2393C94-ABEE-455B-B13B-0EB6402D37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16275" y="39688"/>
            <a:ext cx="411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PPO-Based Control of an Active Motion Surface for Parcel Singulation</a:t>
            </a: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A960919-4893-43E8-BAF3-C8C59F419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4538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21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0" r:id="rId2"/>
    <p:sldLayoutId id="2147483681" r:id="rId3"/>
    <p:sldLayoutId id="2147483682" r:id="rId4"/>
    <p:sldLayoutId id="2147483719" r:id="rId5"/>
    <p:sldLayoutId id="2147483671" r:id="rId6"/>
    <p:sldLayoutId id="2147483726" r:id="rId7"/>
    <p:sldLayoutId id="2147483727" r:id="rId8"/>
    <p:sldLayoutId id="2147483662" r:id="rId9"/>
    <p:sldLayoutId id="2147483670" r:id="rId10"/>
    <p:sldLayoutId id="2147483720" r:id="rId11"/>
    <p:sldLayoutId id="2147483672" r:id="rId12"/>
    <p:sldLayoutId id="2147483677" r:id="rId13"/>
    <p:sldLayoutId id="2147483678" r:id="rId14"/>
    <p:sldLayoutId id="2147483721" r:id="rId15"/>
    <p:sldLayoutId id="2147483723" r:id="rId16"/>
    <p:sldLayoutId id="2147483724" r:id="rId17"/>
    <p:sldLayoutId id="2147483673" r:id="rId18"/>
    <p:sldLayoutId id="2147483674" r:id="rId19"/>
    <p:sldLayoutId id="2147483725" r:id="rId20"/>
    <p:sldLayoutId id="2147483675" r:id="rId21"/>
    <p:sldLayoutId id="2147483676" r:id="rId2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69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pos="2026" userDrawn="1">
          <p15:clr>
            <a:srgbClr val="F26B43"/>
          </p15:clr>
        </p15:guide>
        <p15:guide id="4" pos="1799" userDrawn="1">
          <p15:clr>
            <a:srgbClr val="F26B43"/>
          </p15:clr>
        </p15:guide>
        <p15:guide id="5" orient="horz" pos="1298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  <p15:guide id="7" orient="horz" pos="255" userDrawn="1">
          <p15:clr>
            <a:srgbClr val="F26B43"/>
          </p15:clr>
        </p15:guide>
        <p15:guide id="8" orient="horz" pos="981" userDrawn="1">
          <p15:clr>
            <a:srgbClr val="F26B43"/>
          </p15:clr>
        </p15:guide>
        <p15:guide id="9" orient="horz" pos="504" userDrawn="1">
          <p15:clr>
            <a:srgbClr val="F26B43"/>
          </p15:clr>
        </p15:guide>
        <p15:guide id="10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93F0EDA-05BE-4DD7-962F-394BE0791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11522075" cy="84008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endParaRPr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F0C82C2-529C-45CC-B0FD-8E1A68BA4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2060575"/>
            <a:ext cx="11522075" cy="4429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066552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12" r:id="rId2"/>
    <p:sldLayoutId id="2147483705" r:id="rId3"/>
    <p:sldLayoutId id="2147483730" r:id="rId4"/>
    <p:sldLayoutId id="2147483709" r:id="rId5"/>
    <p:sldLayoutId id="2147483714" r:id="rId6"/>
    <p:sldLayoutId id="2147483729" r:id="rId7"/>
    <p:sldLayoutId id="2147483731" r:id="rId8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69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pos="2026" userDrawn="1">
          <p15:clr>
            <a:srgbClr val="F26B43"/>
          </p15:clr>
        </p15:guide>
        <p15:guide id="4" pos="1799" userDrawn="1">
          <p15:clr>
            <a:srgbClr val="F26B43"/>
          </p15:clr>
        </p15:guide>
        <p15:guide id="5" orient="horz" pos="1298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  <p15:guide id="7" orient="horz" pos="255" userDrawn="1">
          <p15:clr>
            <a:srgbClr val="F26B43"/>
          </p15:clr>
        </p15:guide>
        <p15:guide id="8" orient="horz" pos="981" userDrawn="1">
          <p15:clr>
            <a:srgbClr val="F26B43"/>
          </p15:clr>
        </p15:guide>
        <p15:guide id="9" orient="horz" pos="504" userDrawn="1">
          <p15:clr>
            <a:srgbClr val="F26B43"/>
          </p15:clr>
        </p15:guide>
        <p15:guide id="10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researchgate.net/publication/396784689_Optimizing_Parcels_Sorting_Through_Reinforcement_Learning_for_Intralogistics/citation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microsoft.com/office/2007/relationships/media" Target="../media/media3.mp4"/><Relationship Id="rId7" Type="http://schemas.openxmlformats.org/officeDocument/2006/relationships/image" Target="../media/image13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6.xml"/><Relationship Id="rId4" Type="http://schemas.openxmlformats.org/officeDocument/2006/relationships/video" Target="../media/media3.mp4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microsoft.com/office/2007/relationships/media" Target="../media/media5.mp4"/><Relationship Id="rId7" Type="http://schemas.openxmlformats.org/officeDocument/2006/relationships/image" Target="../media/image20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6.xml"/><Relationship Id="rId4" Type="http://schemas.openxmlformats.org/officeDocument/2006/relationships/video" Target="../media/media5.mp4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6" Type="http://schemas.openxmlformats.org/officeDocument/2006/relationships/image" Target="../media/image22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6" Type="http://schemas.openxmlformats.org/officeDocument/2006/relationships/image" Target="../media/image16.png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6" Type="http://schemas.openxmlformats.org/officeDocument/2006/relationships/image" Target="../media/image17.png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139C8332-124C-4AAA-8F96-961CED6E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376" y="2067622"/>
            <a:ext cx="10297220" cy="2722756"/>
          </a:xfrm>
        </p:spPr>
        <p:txBody>
          <a:bodyPr tIns="0"/>
          <a:lstStyle/>
          <a:p>
            <a:r>
              <a:rPr lang="en-GB" noProof="0"/>
              <a:t>PPO-Based Control of an Active Motion Surface for Parcel Singulation</a:t>
            </a:r>
          </a:p>
        </p:txBody>
      </p:sp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026BBB7E-2B72-48A5-B8AC-092CE1F3CB5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3376" y="5540110"/>
            <a:ext cx="2327891" cy="617499"/>
          </a:xfrm>
        </p:spPr>
        <p:txBody>
          <a:bodyPr lIns="0" tIns="0" rIns="0" bIns="0"/>
          <a:lstStyle/>
          <a:p>
            <a:r>
              <a:rPr lang="en-GB" sz="1600" b="1" noProof="0"/>
              <a:t>Matteo G. </a:t>
            </a:r>
            <a:r>
              <a:rPr lang="en-GB" sz="1600" b="1" noProof="0" err="1"/>
              <a:t>Cigada</a:t>
            </a:r>
            <a:r>
              <a:rPr lang="en-GB" sz="1600" b="1" noProof="0"/>
              <a:t>  </a:t>
            </a:r>
            <a:r>
              <a:rPr lang="en-GB" sz="1600" b="0" noProof="0"/>
              <a:t>10767277</a:t>
            </a:r>
          </a:p>
        </p:txBody>
      </p:sp>
      <p:sp>
        <p:nvSpPr>
          <p:cNvPr id="4" name="Segnaposto testo 1">
            <a:extLst>
              <a:ext uri="{FF2B5EF4-FFF2-40B4-BE49-F238E27FC236}">
                <a16:creationId xmlns:a16="http://schemas.microsoft.com/office/drawing/2014/main" id="{11FA5AD5-1603-ED9D-A24B-D75954A5C8C1}"/>
              </a:ext>
            </a:extLst>
          </p:cNvPr>
          <p:cNvSpPr txBox="1">
            <a:spLocks/>
          </p:cNvSpPr>
          <p:nvPr/>
        </p:nvSpPr>
        <p:spPr>
          <a:xfrm>
            <a:off x="2844084" y="5540110"/>
            <a:ext cx="2327891" cy="6174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it-IT" sz="1200" kern="1200">
                <a:solidFill>
                  <a:schemeClr val="tx2"/>
                </a:solidFill>
                <a:latin typeface="Manrope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b="1" noProof="0"/>
              <a:t>Marco Davi’</a:t>
            </a:r>
            <a:r>
              <a:rPr lang="en-GB" sz="1600" noProof="0"/>
              <a:t>        10809038</a:t>
            </a:r>
          </a:p>
        </p:txBody>
      </p:sp>
      <p:sp>
        <p:nvSpPr>
          <p:cNvPr id="5" name="Segnaposto testo 1">
            <a:extLst>
              <a:ext uri="{FF2B5EF4-FFF2-40B4-BE49-F238E27FC236}">
                <a16:creationId xmlns:a16="http://schemas.microsoft.com/office/drawing/2014/main" id="{95C2561B-FC52-DBEE-B9A2-10E9619367D8}"/>
              </a:ext>
            </a:extLst>
          </p:cNvPr>
          <p:cNvSpPr txBox="1">
            <a:spLocks/>
          </p:cNvSpPr>
          <p:nvPr/>
        </p:nvSpPr>
        <p:spPr>
          <a:xfrm>
            <a:off x="5306547" y="5540110"/>
            <a:ext cx="2327891" cy="6174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it-IT" sz="1200" kern="1200">
                <a:solidFill>
                  <a:schemeClr val="tx2"/>
                </a:solidFill>
                <a:latin typeface="Manrope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b="1" noProof="0"/>
              <a:t>Simone </a:t>
            </a:r>
            <a:r>
              <a:rPr lang="en-GB" sz="1600" b="1" noProof="0" err="1"/>
              <a:t>D’Inca</a:t>
            </a:r>
            <a:r>
              <a:rPr lang="en-GB" sz="1600" b="1" noProof="0"/>
              <a:t>’</a:t>
            </a:r>
            <a:r>
              <a:rPr lang="en-GB" sz="1600" noProof="0"/>
              <a:t>   10837331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609A2F7-0BA7-DCD8-825E-D435D82FCC48}"/>
              </a:ext>
            </a:extLst>
          </p:cNvPr>
          <p:cNvSpPr txBox="1"/>
          <p:nvPr/>
        </p:nvSpPr>
        <p:spPr>
          <a:xfrm>
            <a:off x="593376" y="4790378"/>
            <a:ext cx="102972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noProof="0">
                <a:solidFill>
                  <a:srgbClr val="D2D7DF"/>
                </a:solidFill>
              </a:rPr>
              <a:t>Final policy selection and robustness assessment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8626962-457D-FF58-C04C-90274F9D6450}"/>
              </a:ext>
            </a:extLst>
          </p:cNvPr>
          <p:cNvSpPr txBox="1"/>
          <p:nvPr/>
        </p:nvSpPr>
        <p:spPr>
          <a:xfrm>
            <a:off x="593376" y="6243479"/>
            <a:ext cx="790859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b="1" noProof="0">
                <a:solidFill>
                  <a:srgbClr val="102C53"/>
                </a:solidFill>
              </a:rPr>
              <a:t>Prof. Loris </a:t>
            </a:r>
            <a:r>
              <a:rPr lang="en-GB" sz="1600" b="1" noProof="0" err="1">
                <a:solidFill>
                  <a:srgbClr val="102C53"/>
                </a:solidFill>
              </a:rPr>
              <a:t>Roveda</a:t>
            </a:r>
            <a:r>
              <a:rPr lang="en-GB" sz="1600" noProof="0">
                <a:solidFill>
                  <a:srgbClr val="102C53"/>
                </a:solidFill>
              </a:rPr>
              <a:t> - Machine Learning for Mechanical Systems - A.Y. 2025-2026 </a:t>
            </a:r>
          </a:p>
        </p:txBody>
      </p:sp>
    </p:spTree>
    <p:extLst>
      <p:ext uri="{BB962C8B-B14F-4D97-AF65-F5344CB8AC3E}">
        <p14:creationId xmlns:p14="http://schemas.microsoft.com/office/powerpoint/2010/main" val="1554532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9299BF-195D-4EAC-850B-E43918619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Contents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1B07CC0-C8E8-44DA-BA1E-32C9CACFC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/>
              <a:t>15/07/2026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8DC9F33-03DC-4D30-A406-50658BE1E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PPO-Based Control of an Active Motion Surface for Parcel Singulation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9899E04-892C-4A3C-B5BA-2EB385A25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GB" noProof="0" smtClean="0"/>
              <a:pPr/>
              <a:t>2</a:t>
            </a:fld>
            <a:endParaRPr lang="en-GB" noProof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488055C-646A-47A6-A79D-3A116886E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6786" y="1568397"/>
            <a:ext cx="8640762" cy="4921303"/>
          </a:xfrm>
        </p:spPr>
        <p:txBody>
          <a:bodyPr/>
          <a:lstStyle/>
          <a:p>
            <a:r>
              <a:rPr lang="en-GB" noProof="0"/>
              <a:t>Environment, reward, and physical KPI</a:t>
            </a:r>
          </a:p>
          <a:p>
            <a:pPr lvl="1"/>
            <a:r>
              <a:rPr lang="en-GB" noProof="0"/>
              <a:t>AMS model, downstream reward, and edge-based metric</a:t>
            </a:r>
          </a:p>
          <a:p>
            <a:pPr lvl="1"/>
            <a:endParaRPr lang="en-GB" noProof="0"/>
          </a:p>
          <a:p>
            <a:r>
              <a:rPr lang="en-GB" noProof="0"/>
              <a:t>PPO baseline</a:t>
            </a:r>
          </a:p>
          <a:p>
            <a:pPr lvl="1"/>
            <a:r>
              <a:rPr lang="en-GB" noProof="0"/>
              <a:t>2000-episode reference configuration and KPIs</a:t>
            </a:r>
          </a:p>
          <a:p>
            <a:pPr lvl="1"/>
            <a:endParaRPr lang="en-GB" noProof="0"/>
          </a:p>
          <a:p>
            <a:r>
              <a:rPr lang="en-GB" noProof="0"/>
              <a:t>Bayesian-optimized PPO Policy</a:t>
            </a:r>
          </a:p>
          <a:p>
            <a:pPr lvl="1"/>
            <a:r>
              <a:rPr lang="en-GB" noProof="0"/>
              <a:t>High-fidelity BO and best candidate selection</a:t>
            </a:r>
          </a:p>
          <a:p>
            <a:pPr lvl="1"/>
            <a:endParaRPr lang="en-GB" noProof="0"/>
          </a:p>
          <a:p>
            <a:r>
              <a:rPr lang="en-GB" noProof="0"/>
              <a:t>Robustness assessment</a:t>
            </a:r>
          </a:p>
          <a:p>
            <a:pPr lvl="1"/>
            <a:r>
              <a:rPr lang="en-GB" noProof="0"/>
              <a:t>Multiseed validation and non-nominal stress campaign</a:t>
            </a:r>
          </a:p>
          <a:p>
            <a:endParaRPr lang="en-GB" noProof="0"/>
          </a:p>
          <a:p>
            <a:r>
              <a:rPr lang="en-GB" noProof="0"/>
              <a:t>Conclusions and Future improvements</a:t>
            </a:r>
          </a:p>
        </p:txBody>
      </p:sp>
    </p:spTree>
    <p:extLst>
      <p:ext uri="{BB962C8B-B14F-4D97-AF65-F5344CB8AC3E}">
        <p14:creationId xmlns:p14="http://schemas.microsoft.com/office/powerpoint/2010/main" val="3094115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717EB-50CA-0035-26AA-839F08339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0C52D699-DF95-1705-7605-53BC3EE5A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3"/>
            <a:ext cx="6696458" cy="744686"/>
          </a:xfrm>
        </p:spPr>
        <p:txBody>
          <a:bodyPr/>
          <a:lstStyle/>
          <a:p>
            <a:r>
              <a:rPr lang="en-GB" noProof="0"/>
              <a:t>PPO acts on the AMS; singulation is evaluated downstream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7EA9C74-5B64-99F9-BFE3-B07F1640D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/>
              <a:t>15/07/2026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A2E93B6-00FC-677F-B9A2-231C5CF00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PPO-Based Control of an Active Motion Surface for Parcel Singulation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F7857E5-05F6-D61E-DD90-F405EFDA2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GB" noProof="0" smtClean="0"/>
              <a:t>3</a:t>
            </a:fld>
            <a:endParaRPr lang="en-GB" noProof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77CABFEA-153F-1ACE-86DB-9DBF74AF24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060575"/>
            <a:ext cx="6149727" cy="4429125"/>
          </a:xfrm>
        </p:spPr>
        <p:txBody>
          <a:bodyPr/>
          <a:lstStyle/>
          <a:p>
            <a:r>
              <a:rPr lang="en-GB" sz="1800" b="1" noProof="0"/>
              <a:t>Implemented system</a:t>
            </a:r>
          </a:p>
          <a:p>
            <a:r>
              <a:rPr lang="en-GB" noProof="0"/>
              <a:t>• 5×5 AMS matrix with 0.2 m cell side</a:t>
            </a:r>
          </a:p>
          <a:p>
            <a:r>
              <a:rPr lang="en-GB" noProof="0"/>
              <a:t>• 25 cells × 2 commands = 50 continuous actions components</a:t>
            </a:r>
          </a:p>
          <a:p>
            <a:r>
              <a:rPr lang="en-GB" noProof="0"/>
              <a:t>• Commands: actuator rotation and velocity magnitude</a:t>
            </a:r>
          </a:p>
          <a:p>
            <a:endParaRPr lang="en-GB" noProof="0"/>
          </a:p>
          <a:p>
            <a:r>
              <a:rPr lang="en-GB" sz="1800" b="1" noProof="0"/>
              <a:t>Nominal parcel flow</a:t>
            </a:r>
          </a:p>
          <a:p>
            <a:r>
              <a:rPr lang="en-GB" noProof="0"/>
              <a:t>• 10 parcels per episode, generated in pairs</a:t>
            </a:r>
          </a:p>
          <a:p>
            <a:r>
              <a:rPr lang="en-GB" noProof="0"/>
              <a:t>• Pair generation period: 0.75 s</a:t>
            </a:r>
          </a:p>
          <a:p>
            <a:r>
              <a:rPr lang="en-GB" noProof="0"/>
              <a:t>• Downstream treadmill speed: 1.9 m/s</a:t>
            </a:r>
          </a:p>
          <a:p>
            <a:endParaRPr lang="en-GB" noProof="0"/>
          </a:p>
          <a:p>
            <a:r>
              <a:rPr lang="en-GB" sz="1800" b="1" noProof="0"/>
              <a:t>Physical regions</a:t>
            </a:r>
          </a:p>
          <a:p>
            <a:r>
              <a:rPr lang="en-GB" noProof="0"/>
              <a:t>• PPO-controlled AMS region: 0 ≤ y ≤ 1 m</a:t>
            </a:r>
          </a:p>
          <a:p>
            <a:r>
              <a:rPr lang="en-GB" noProof="0"/>
              <a:t>• Passive downstream region: 1 ≤ y ≤ 2 m</a:t>
            </a:r>
          </a:p>
          <a:p>
            <a:r>
              <a:rPr lang="en-GB" noProof="0"/>
              <a:t>• Final evaluation line: y = 2 m</a:t>
            </a:r>
          </a:p>
        </p:txBody>
      </p:sp>
      <p:pic>
        <p:nvPicPr>
          <p:cNvPr id="22" name="Segnaposto contenuto 21">
            <a:extLst>
              <a:ext uri="{FF2B5EF4-FFF2-40B4-BE49-F238E27FC236}">
                <a16:creationId xmlns:a16="http://schemas.microsoft.com/office/drawing/2014/main" id="{D5ED654A-56FC-F0A1-C4C3-498DF6802A35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530" y="800101"/>
            <a:ext cx="4830160" cy="5689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43341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BB3BB-F29F-CE6C-DD6B-EF799C307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E96E44-60C9-C7EF-A72B-210A5EB0B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5761037" cy="749265"/>
          </a:xfrm>
        </p:spPr>
        <p:txBody>
          <a:bodyPr/>
          <a:lstStyle/>
          <a:p>
            <a:r>
              <a:rPr lang="en-GB" sz="2400" noProof="0"/>
              <a:t>The PPO agent observes a normalized local representation of the AMS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122BE1F-283D-3DE6-9CC5-8A38A270F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PPO-Based Control of an Active Motion Surface for Parcel Singulation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A3E1A76-874D-5828-3EAE-5569A57A8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GB" noProof="0" smtClean="0"/>
              <a:pPr/>
              <a:t>4</a:t>
            </a:fld>
            <a:endParaRPr lang="en-GB" noProof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558A83B-5459-496F-C76E-5707CC065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/>
              <a:t>15/07/2026</a:t>
            </a:r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2B80528B-272E-C361-6E10-969E1B3B0A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64613" y="2060575"/>
            <a:ext cx="5592424" cy="4429125"/>
          </a:xfrm>
        </p:spPr>
        <p:txBody>
          <a:bodyPr/>
          <a:lstStyle/>
          <a:p>
            <a:r>
              <a:rPr lang="en-GB" b="1" noProof="0"/>
              <a:t>Grid-based observation</a:t>
            </a:r>
          </a:p>
          <a:p>
            <a:pPr>
              <a:lnSpc>
                <a:spcPct val="100000"/>
              </a:lnSpc>
            </a:pPr>
            <a:r>
              <a:rPr lang="en-GB" sz="1600" noProof="0"/>
              <a:t>• 5 × 5 AMS cells</a:t>
            </a:r>
          </a:p>
          <a:p>
            <a:pPr>
              <a:lnSpc>
                <a:spcPct val="100000"/>
              </a:lnSpc>
            </a:pPr>
            <a:r>
              <a:rPr lang="en-GB" sz="1600" noProof="0"/>
              <a:t>• 4 features per cell</a:t>
            </a:r>
          </a:p>
          <a:p>
            <a:pPr>
              <a:lnSpc>
                <a:spcPct val="100000"/>
              </a:lnSpc>
            </a:pPr>
            <a:r>
              <a:rPr lang="en-GB" sz="1600" noProof="0"/>
              <a:t>• Observation dimension: 100</a:t>
            </a:r>
          </a:p>
          <a:p>
            <a:endParaRPr lang="en-GB" sz="1600" noProof="0"/>
          </a:p>
          <a:p>
            <a:r>
              <a:rPr lang="en-GB" b="1" noProof="0"/>
              <a:t>Cell feature block</a:t>
            </a:r>
          </a:p>
          <a:p>
            <a:r>
              <a:rPr lang="en-GB" sz="1600" noProof="0"/>
              <a:t>[</a:t>
            </a:r>
            <a:r>
              <a:rPr lang="en-GB" sz="1600" noProof="0" err="1"/>
              <a:t>x</a:t>
            </a:r>
            <a:r>
              <a:rPr lang="en-GB" sz="1600" baseline="-25000" noProof="0" err="1"/>
              <a:t>rel</a:t>
            </a:r>
            <a:r>
              <a:rPr lang="en-GB" sz="1600" noProof="0"/>
              <a:t>, </a:t>
            </a:r>
            <a:r>
              <a:rPr lang="en-GB" sz="1600" noProof="0" err="1"/>
              <a:t>y</a:t>
            </a:r>
            <a:r>
              <a:rPr lang="en-GB" sz="1600" baseline="-25000" noProof="0" err="1"/>
              <a:t>rel</a:t>
            </a:r>
            <a:r>
              <a:rPr lang="en-GB" sz="1600" noProof="0"/>
              <a:t>, </a:t>
            </a:r>
            <a:r>
              <a:rPr lang="en-GB" sz="1600" noProof="0" err="1"/>
              <a:t>d</a:t>
            </a:r>
            <a:r>
              <a:rPr lang="en-GB" sz="1600" baseline="-25000" noProof="0" err="1"/>
              <a:t>norm</a:t>
            </a:r>
            <a:r>
              <a:rPr lang="en-GB" sz="1600" noProof="0"/>
              <a:t>, </a:t>
            </a:r>
            <a:r>
              <a:rPr lang="en-GB" sz="1600" noProof="0" err="1"/>
              <a:t>d</a:t>
            </a:r>
            <a:r>
              <a:rPr lang="en-GB" sz="1600" baseline="-25000" noProof="0" err="1"/>
              <a:t>norm</a:t>
            </a:r>
            <a:r>
              <a:rPr lang="en-GB" sz="1600" noProof="0"/>
              <a:t>] </a:t>
            </a:r>
          </a:p>
          <a:p>
            <a:r>
              <a:rPr lang="en-GB" sz="1600" noProof="0"/>
              <a:t>where:</a:t>
            </a:r>
          </a:p>
          <a:p>
            <a:pPr>
              <a:lnSpc>
                <a:spcPct val="100000"/>
              </a:lnSpc>
            </a:pPr>
            <a:r>
              <a:rPr lang="en-GB" sz="1600" noProof="0"/>
              <a:t>• </a:t>
            </a:r>
            <a:r>
              <a:rPr lang="en-GB" sz="1600" noProof="0" err="1"/>
              <a:t>x</a:t>
            </a:r>
            <a:r>
              <a:rPr lang="en-GB" sz="1600" baseline="-25000" noProof="0" err="1"/>
              <a:t>rel</a:t>
            </a:r>
            <a:r>
              <a:rPr lang="en-GB" sz="1600" noProof="0"/>
              <a:t>, </a:t>
            </a:r>
            <a:r>
              <a:rPr lang="en-GB" sz="1600" noProof="0" err="1"/>
              <a:t>y</a:t>
            </a:r>
            <a:r>
              <a:rPr lang="en-GB" sz="1600" baseline="-25000" noProof="0" err="1"/>
              <a:t>rel</a:t>
            </a:r>
            <a:r>
              <a:rPr lang="en-GB" sz="1600" noProof="0"/>
              <a:t>: normalized parcel centroid position within the cell</a:t>
            </a:r>
          </a:p>
          <a:p>
            <a:pPr>
              <a:lnSpc>
                <a:spcPct val="100000"/>
              </a:lnSpc>
            </a:pPr>
            <a:r>
              <a:rPr lang="en-GB" sz="1600" noProof="0"/>
              <a:t>• </a:t>
            </a:r>
            <a:r>
              <a:rPr lang="en-GB" sz="1600" noProof="0" err="1"/>
              <a:t>d</a:t>
            </a:r>
            <a:r>
              <a:rPr lang="en-GB" sz="1600" baseline="-25000" noProof="0" err="1"/>
              <a:t>norm</a:t>
            </a:r>
            <a:r>
              <a:rPr lang="en-GB" sz="1600" noProof="0"/>
              <a:t>: normalized parcel size</a:t>
            </a:r>
          </a:p>
          <a:p>
            <a:pPr>
              <a:lnSpc>
                <a:spcPct val="100000"/>
              </a:lnSpc>
            </a:pPr>
            <a:r>
              <a:rPr lang="en-GB" sz="1600" noProof="0"/>
              <a:t>• empty cells are encoded as zeros</a:t>
            </a:r>
          </a:p>
          <a:p>
            <a:endParaRPr lang="en-GB" sz="1600" noProof="0"/>
          </a:p>
          <a:p>
            <a:r>
              <a:rPr lang="en-GB" b="1" noProof="0"/>
              <a:t>Normalization</a:t>
            </a:r>
          </a:p>
          <a:p>
            <a:pPr>
              <a:lnSpc>
                <a:spcPct val="100000"/>
              </a:lnSpc>
            </a:pPr>
            <a:r>
              <a:rPr lang="en-GB" sz="1600" noProof="0"/>
              <a:t>• Removes dependence on absolute cell coordinates</a:t>
            </a:r>
          </a:p>
          <a:p>
            <a:pPr>
              <a:lnSpc>
                <a:spcPct val="100000"/>
              </a:lnSpc>
            </a:pPr>
            <a:r>
              <a:rPr lang="en-GB" sz="1600" noProof="0"/>
              <a:t>• Keeps inputs in comparable numerical ranges</a:t>
            </a:r>
          </a:p>
          <a:p>
            <a:pPr>
              <a:lnSpc>
                <a:spcPct val="100000"/>
              </a:lnSpc>
            </a:pPr>
            <a:r>
              <a:rPr lang="en-GB" sz="1600" noProof="0"/>
              <a:t>• Helps PPO process all AMS cells consistently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FCCDDAFC-DF52-A645-EA46-6E5396049B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2" y="2060575"/>
            <a:ext cx="5761037" cy="4320778"/>
          </a:xfrm>
          <a:prstGeom prst="rect">
            <a:avLst/>
          </a:prstGeom>
        </p:spPr>
      </p:pic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757BA2E1-2DFD-EE08-D8B1-E64EB25AD7B4}"/>
              </a:ext>
            </a:extLst>
          </p:cNvPr>
          <p:cNvCxnSpPr/>
          <p:nvPr/>
        </p:nvCxnSpPr>
        <p:spPr>
          <a:xfrm>
            <a:off x="892302" y="3934541"/>
            <a:ext cx="367200" cy="0"/>
          </a:xfrm>
          <a:prstGeom prst="line">
            <a:avLst/>
          </a:prstGeom>
          <a:ln w="9525">
            <a:solidFill>
              <a:srgbClr val="586D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492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EDADA-FF20-9776-6654-38118131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2AAA3A-5E56-E009-0E95-021154806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5761037" cy="749265"/>
          </a:xfrm>
        </p:spPr>
        <p:txBody>
          <a:bodyPr/>
          <a:lstStyle/>
          <a:p>
            <a:r>
              <a:rPr lang="en-GB" sz="2400" noProof="0"/>
              <a:t>The training reward</a:t>
            </a:r>
            <a:r>
              <a:rPr lang="en-GB" sz="1800" baseline="30000" noProof="0"/>
              <a:t>[*]</a:t>
            </a:r>
            <a:r>
              <a:rPr lang="en-GB" sz="2400" noProof="0"/>
              <a:t> promotes downstream pairwise separation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52729FF-A841-ABEB-EE8C-67C0E61FC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PPO-Based Control of an Active Motion Surface for Parcel Singulation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F946EBF-86FC-BA01-C56C-283492AFA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GB" noProof="0" smtClean="0"/>
              <a:pPr/>
              <a:t>5</a:t>
            </a:fld>
            <a:endParaRPr lang="en-GB" noProof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5C76DDE1-8E80-5084-5B3A-F276369A90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5761037" cy="4429125"/>
          </a:xfrm>
        </p:spPr>
        <p:txBody>
          <a:bodyPr/>
          <a:lstStyle/>
          <a:p>
            <a:pPr algn="ctr"/>
            <a:r>
              <a:rPr lang="en-GB" b="1" noProof="0"/>
              <a:t>Rewarding logic</a:t>
            </a:r>
          </a:p>
          <a:p>
            <a:pPr algn="ctr"/>
            <a:r>
              <a:rPr lang="en-GB" sz="1600" noProof="0"/>
              <a:t>1 ≤ y ≤ 2 m</a:t>
            </a:r>
          </a:p>
          <a:p>
            <a:endParaRPr lang="en-GB" sz="1600" noProof="0"/>
          </a:p>
          <a:p>
            <a:r>
              <a:rPr lang="en-GB" sz="1600" noProof="0"/>
              <a:t>At each step:</a:t>
            </a:r>
          </a:p>
          <a:p>
            <a:r>
              <a:rPr lang="en-GB" sz="1600" noProof="0"/>
              <a:t>1. Select parcels in the downstream region</a:t>
            </a:r>
          </a:p>
          <a:p>
            <a:r>
              <a:rPr lang="en-GB" sz="1600" noProof="0"/>
              <a:t>2. Sort them by longitudinal position</a:t>
            </a:r>
          </a:p>
          <a:p>
            <a:r>
              <a:rPr lang="en-GB" sz="1600" noProof="0"/>
              <a:t>3. Compute edge gaps between consecutive parcels</a:t>
            </a:r>
          </a:p>
          <a:p>
            <a:r>
              <a:rPr lang="en-GB" sz="1600" noProof="0"/>
              <a:t>4. Convert each gap into a local score</a:t>
            </a:r>
          </a:p>
          <a:p>
            <a:r>
              <a:rPr lang="en-GB" sz="1600" noProof="0"/>
              <a:t>5. Use the worst pair as instantaneous reward</a:t>
            </a:r>
          </a:p>
          <a:p>
            <a:endParaRPr lang="en-GB" sz="1600" noProof="0"/>
          </a:p>
          <a:p>
            <a:endParaRPr lang="en-GB" sz="1600" noProof="0"/>
          </a:p>
          <a:p>
            <a:r>
              <a:rPr lang="en-GB" sz="1600" noProof="0"/>
              <a:t>Bonus:</a:t>
            </a:r>
          </a:p>
          <a:p>
            <a:r>
              <a:rPr lang="en-GB" sz="1600" noProof="0"/>
              <a:t>+20 if all gaps are positive and at least three parcels are present.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659ECBE-6DC5-A058-0168-C4BAC6EF9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/>
              <a:t>15/07/2026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2E846528-926B-F06F-E926-982DA797E39B}"/>
                  </a:ext>
                </a:extLst>
              </p:cNvPr>
              <p:cNvSpPr txBox="1"/>
              <p:nvPr/>
            </p:nvSpPr>
            <p:spPr>
              <a:xfrm>
                <a:off x="6681372" y="2060575"/>
                <a:ext cx="4586705" cy="9694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GB" b="1" noProof="0">
                    <a:latin typeface="Manrope" pitchFamily="2" charset="0"/>
                  </a:rPr>
                  <a:t>Mathematical expression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𝑚𝑖</m:t>
                      </m:r>
                      <m:sSub>
                        <m:sSubPr>
                          <m:ctrlPr>
                            <a:rPr lang="en-GB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GB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𝑙𝑜𝑐𝑎𝑙𝑆𝑐𝑜𝑟</m:t>
                          </m:r>
                          <m:sSub>
                            <m:sSubPr>
                              <m:ctrlPr>
                                <a:rPr lang="en-GB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GB" b="0" i="0" noProof="0" smtClean="0">
                          <a:latin typeface="Cambria Math" panose="02040503050406030204" pitchFamily="18" charset="0"/>
                        </a:rPr>
                        <m:t>bonus</m:t>
                      </m:r>
                    </m:oMath>
                  </m:oMathPara>
                </a14:m>
                <a:endParaRPr lang="en-GB" noProof="0">
                  <a:latin typeface="Manrope" pitchFamily="2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noProof="0" smtClean="0">
                          <a:latin typeface="Cambria Math" panose="02040503050406030204" pitchFamily="18" charset="0"/>
                        </a:rPr>
                        <m:t>𝑙𝑜𝑐𝑎𝑙𝑆𝑐𝑜𝑟</m:t>
                      </m:r>
                      <m:sSub>
                        <m:sSubPr>
                          <m:ctrlPr>
                            <a:rPr lang="en-GB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i="1" noProof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i="1" noProof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GB" i="1" noProof="0"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GB" i="1" noProof="0">
                          <a:latin typeface="Cambria Math" panose="02040503050406030204" pitchFamily="18" charset="0"/>
                        </a:rPr>
                        <m:t>(10∙</m:t>
                      </m:r>
                      <m:r>
                        <a:rPr lang="en-GB" i="1" noProof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GB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GB" i="1" noProof="0">
                          <a:latin typeface="Cambria Math" panose="02040503050406030204" pitchFamily="18" charset="0"/>
                        </a:rPr>
                        <m:t>𝑎𝑡𝑎𝑛</m:t>
                      </m:r>
                      <m:d>
                        <m:dPr>
                          <m:ctrlPr>
                            <a:rPr lang="en-GB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noProof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i="1" noProof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 noProof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GB" i="1" noProof="0">
                          <a:latin typeface="Cambria Math" panose="02040503050406030204" pitchFamily="18" charset="0"/>
                        </a:rPr>
                        <m:t>, 6)</m:t>
                      </m:r>
                    </m:oMath>
                  </m:oMathPara>
                </a14:m>
                <a:endParaRPr lang="en-GB" noProof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2E846528-926B-F06F-E926-982DA797E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372" y="2060575"/>
                <a:ext cx="4586705" cy="969496"/>
              </a:xfrm>
              <a:prstGeom prst="rect">
                <a:avLst/>
              </a:prstGeom>
              <a:blipFill>
                <a:blip r:embed="rId3"/>
                <a:stretch>
                  <a:fillRect t="-8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ttangolo 7">
            <a:extLst>
              <a:ext uri="{FF2B5EF4-FFF2-40B4-BE49-F238E27FC236}">
                <a16:creationId xmlns:a16="http://schemas.microsoft.com/office/drawing/2014/main" id="{B1CCE6E2-8DB4-F031-6386-25B5C1355983}"/>
              </a:ext>
            </a:extLst>
          </p:cNvPr>
          <p:cNvSpPr/>
          <p:nvPr/>
        </p:nvSpPr>
        <p:spPr>
          <a:xfrm>
            <a:off x="6096000" y="3564512"/>
            <a:ext cx="5761038" cy="2543783"/>
          </a:xfrm>
          <a:prstGeom prst="rect">
            <a:avLst/>
          </a:prstGeom>
          <a:solidFill>
            <a:srgbClr val="E3E6EB"/>
          </a:solidFill>
          <a:ln>
            <a:solidFill>
              <a:srgbClr val="102C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C36F3BF3-50D2-A9AC-A3B4-4DE07C256953}"/>
              </a:ext>
            </a:extLst>
          </p:cNvPr>
          <p:cNvSpPr/>
          <p:nvPr/>
        </p:nvSpPr>
        <p:spPr>
          <a:xfrm rot="20596669">
            <a:off x="6946780" y="4304453"/>
            <a:ext cx="540000" cy="5400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129AE427-5710-4CBB-6542-864E79CB9600}"/>
              </a:ext>
            </a:extLst>
          </p:cNvPr>
          <p:cNvSpPr/>
          <p:nvPr/>
        </p:nvSpPr>
        <p:spPr>
          <a:xfrm rot="512892">
            <a:off x="8932259" y="4602918"/>
            <a:ext cx="288000" cy="288000"/>
          </a:xfrm>
          <a:prstGeom prst="rect">
            <a:avLst/>
          </a:prstGeom>
          <a:solidFill>
            <a:srgbClr val="F7862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7C672916-816A-BD59-796A-8DCE1C873FCC}"/>
              </a:ext>
            </a:extLst>
          </p:cNvPr>
          <p:cNvSpPr/>
          <p:nvPr/>
        </p:nvSpPr>
        <p:spPr>
          <a:xfrm rot="503979">
            <a:off x="9871568" y="4386918"/>
            <a:ext cx="720000" cy="720000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C97BA52E-44FA-6D1B-B396-BF293900CF47}"/>
              </a:ext>
            </a:extLst>
          </p:cNvPr>
          <p:cNvCxnSpPr>
            <a:cxnSpLocks/>
          </p:cNvCxnSpPr>
          <p:nvPr/>
        </p:nvCxnSpPr>
        <p:spPr>
          <a:xfrm>
            <a:off x="7562498" y="4717735"/>
            <a:ext cx="1335600" cy="0"/>
          </a:xfrm>
          <a:prstGeom prst="straightConnector1">
            <a:avLst/>
          </a:prstGeom>
          <a:ln>
            <a:solidFill>
              <a:srgbClr val="102C53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F269EDC9-B78F-03E2-0176-7638535271B0}"/>
              </a:ext>
            </a:extLst>
          </p:cNvPr>
          <p:cNvCxnSpPr>
            <a:cxnSpLocks/>
          </p:cNvCxnSpPr>
          <p:nvPr/>
        </p:nvCxnSpPr>
        <p:spPr>
          <a:xfrm>
            <a:off x="9253657" y="4724716"/>
            <a:ext cx="558000" cy="0"/>
          </a:xfrm>
          <a:prstGeom prst="straightConnector1">
            <a:avLst/>
          </a:prstGeom>
          <a:ln>
            <a:solidFill>
              <a:srgbClr val="102C53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BCC38A2-C993-D811-5FE0-8DFA9E98F77B}"/>
              </a:ext>
            </a:extLst>
          </p:cNvPr>
          <p:cNvSpPr txBox="1"/>
          <p:nvPr/>
        </p:nvSpPr>
        <p:spPr>
          <a:xfrm>
            <a:off x="6634805" y="3818212"/>
            <a:ext cx="11639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noProof="0"/>
              <a:t>Parcel 1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C0930103-A293-1A00-C39A-F39ED5727D39}"/>
              </a:ext>
            </a:extLst>
          </p:cNvPr>
          <p:cNvSpPr txBox="1"/>
          <p:nvPr/>
        </p:nvSpPr>
        <p:spPr>
          <a:xfrm>
            <a:off x="8494284" y="3818212"/>
            <a:ext cx="11639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noProof="0"/>
              <a:t>Parcel 2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F1ABA90D-C585-DFDE-3431-BB98C6C53AD3}"/>
              </a:ext>
            </a:extLst>
          </p:cNvPr>
          <p:cNvSpPr txBox="1"/>
          <p:nvPr/>
        </p:nvSpPr>
        <p:spPr>
          <a:xfrm>
            <a:off x="9771788" y="3818212"/>
            <a:ext cx="11639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noProof="0"/>
              <a:t>Parcel 3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F90F95B6-AF70-2FB3-E5B0-DECA77E2EF35}"/>
              </a:ext>
            </a:extLst>
          </p:cNvPr>
          <p:cNvSpPr txBox="1"/>
          <p:nvPr/>
        </p:nvSpPr>
        <p:spPr>
          <a:xfrm>
            <a:off x="7716633" y="4724715"/>
            <a:ext cx="10084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b="1" noProof="0">
                <a:solidFill>
                  <a:srgbClr val="102C53"/>
                </a:solidFill>
              </a:rPr>
              <a:t>gap g1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D1269D3B-DFBE-D107-0568-29B9829DB795}"/>
              </a:ext>
            </a:extLst>
          </p:cNvPr>
          <p:cNvSpPr txBox="1"/>
          <p:nvPr/>
        </p:nvSpPr>
        <p:spPr>
          <a:xfrm>
            <a:off x="9028440" y="4724715"/>
            <a:ext cx="10084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b="1" noProof="0">
                <a:solidFill>
                  <a:srgbClr val="102C53"/>
                </a:solidFill>
              </a:rPr>
              <a:t>gap g2</a:t>
            </a:r>
          </a:p>
        </p:txBody>
      </p:sp>
      <p:sp>
        <p:nvSpPr>
          <p:cNvPr id="23" name="Parentesi quadra aperta 22">
            <a:extLst>
              <a:ext uri="{FF2B5EF4-FFF2-40B4-BE49-F238E27FC236}">
                <a16:creationId xmlns:a16="http://schemas.microsoft.com/office/drawing/2014/main" id="{145F9C9C-DBD2-5CFC-B311-C547917CB5C1}"/>
              </a:ext>
            </a:extLst>
          </p:cNvPr>
          <p:cNvSpPr/>
          <p:nvPr/>
        </p:nvSpPr>
        <p:spPr>
          <a:xfrm rot="16200000">
            <a:off x="8122298" y="4592799"/>
            <a:ext cx="216000" cy="1335600"/>
          </a:xfrm>
          <a:prstGeom prst="leftBracket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C6CEA843-C725-D743-1856-71238F9D0BDA}"/>
              </a:ext>
            </a:extLst>
          </p:cNvPr>
          <p:cNvSpPr txBox="1"/>
          <p:nvPr/>
        </p:nvSpPr>
        <p:spPr>
          <a:xfrm>
            <a:off x="7448448" y="5376659"/>
            <a:ext cx="1607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noProof="0">
                <a:solidFill>
                  <a:srgbClr val="102C53"/>
                </a:solidFill>
              </a:rPr>
              <a:t>localScore</a:t>
            </a:r>
            <a:r>
              <a:rPr lang="en-GB" sz="1400" b="1" baseline="-25000" noProof="0">
                <a:solidFill>
                  <a:srgbClr val="102C53"/>
                </a:solidFill>
              </a:rPr>
              <a:t>1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5F97A000-74C0-0F8D-00FB-AAE8261A4EC2}"/>
              </a:ext>
            </a:extLst>
          </p:cNvPr>
          <p:cNvSpPr txBox="1"/>
          <p:nvPr/>
        </p:nvSpPr>
        <p:spPr>
          <a:xfrm>
            <a:off x="5854211" y="3256057"/>
            <a:ext cx="10223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noProof="0"/>
              <a:t>y = 2 m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8EFD582D-9A65-527A-0B87-B7C4C8586A93}"/>
              </a:ext>
            </a:extLst>
          </p:cNvPr>
          <p:cNvSpPr txBox="1"/>
          <p:nvPr/>
        </p:nvSpPr>
        <p:spPr>
          <a:xfrm>
            <a:off x="11069781" y="3251757"/>
            <a:ext cx="10223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noProof="0"/>
              <a:t>y = 1 m</a:t>
            </a:r>
          </a:p>
        </p:txBody>
      </p:sp>
      <p:sp>
        <p:nvSpPr>
          <p:cNvPr id="28" name="Parentesi quadra aperta 27">
            <a:extLst>
              <a:ext uri="{FF2B5EF4-FFF2-40B4-BE49-F238E27FC236}">
                <a16:creationId xmlns:a16="http://schemas.microsoft.com/office/drawing/2014/main" id="{B79F2F7B-50DA-F947-C39A-10BEA6137A44}"/>
              </a:ext>
            </a:extLst>
          </p:cNvPr>
          <p:cNvSpPr/>
          <p:nvPr/>
        </p:nvSpPr>
        <p:spPr>
          <a:xfrm rot="16200000">
            <a:off x="9435841" y="4981598"/>
            <a:ext cx="216000" cy="558000"/>
          </a:xfrm>
          <a:prstGeom prst="leftBracket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7464A59B-9AC6-D763-2DD2-236A89102D3B}"/>
              </a:ext>
            </a:extLst>
          </p:cNvPr>
          <p:cNvSpPr txBox="1"/>
          <p:nvPr/>
        </p:nvSpPr>
        <p:spPr>
          <a:xfrm>
            <a:off x="9028440" y="5376659"/>
            <a:ext cx="11829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noProof="0">
                <a:solidFill>
                  <a:srgbClr val="102C53"/>
                </a:solidFill>
              </a:rPr>
              <a:t>localScore</a:t>
            </a:r>
            <a:r>
              <a:rPr lang="en-GB" sz="1400" b="1" baseline="-25000" noProof="0">
                <a:solidFill>
                  <a:srgbClr val="102C53"/>
                </a:solidFill>
              </a:rPr>
              <a:t>2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944FF09C-4783-775C-E901-D6E7876F3F83}"/>
              </a:ext>
            </a:extLst>
          </p:cNvPr>
          <p:cNvSpPr txBox="1"/>
          <p:nvPr/>
        </p:nvSpPr>
        <p:spPr>
          <a:xfrm>
            <a:off x="6824911" y="6130616"/>
            <a:ext cx="42996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noProof="0"/>
              <a:t>K = number of downstream parcels,   </a:t>
            </a:r>
            <a:r>
              <a:rPr lang="en-GB" sz="1200" noProof="0" err="1"/>
              <a:t>g</a:t>
            </a:r>
            <a:r>
              <a:rPr lang="en-GB" sz="1200" baseline="-25000" noProof="0" err="1"/>
              <a:t>k</a:t>
            </a:r>
            <a:r>
              <a:rPr lang="en-GB" sz="1200" noProof="0"/>
              <a:t> = k-</a:t>
            </a:r>
            <a:r>
              <a:rPr lang="en-GB" sz="1200" noProof="0" err="1"/>
              <a:t>th</a:t>
            </a:r>
            <a:r>
              <a:rPr lang="en-GB" sz="1200" noProof="0"/>
              <a:t> edge gap</a:t>
            </a:r>
          </a:p>
        </p:txBody>
      </p: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84152DA1-40DA-61C0-2F96-C7AA2E27DBBC}"/>
              </a:ext>
            </a:extLst>
          </p:cNvPr>
          <p:cNvCxnSpPr/>
          <p:nvPr/>
        </p:nvCxnSpPr>
        <p:spPr>
          <a:xfrm flipH="1">
            <a:off x="11268077" y="5872183"/>
            <a:ext cx="5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DD857CA2-1D45-79D9-AACC-4CC8BB2CF0C7}"/>
              </a:ext>
            </a:extLst>
          </p:cNvPr>
          <p:cNvSpPr txBox="1"/>
          <p:nvPr/>
        </p:nvSpPr>
        <p:spPr>
          <a:xfrm>
            <a:off x="11069781" y="5831296"/>
            <a:ext cx="437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/>
              <a:t>y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BB02ED3-1C45-ECA7-9554-D446BA9AB295}"/>
              </a:ext>
            </a:extLst>
          </p:cNvPr>
          <p:cNvSpPr txBox="1"/>
          <p:nvPr/>
        </p:nvSpPr>
        <p:spPr>
          <a:xfrm>
            <a:off x="334962" y="6603457"/>
            <a:ext cx="11522075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GB" sz="1000">
                <a:hlinkClick r:id="rId4"/>
              </a:rPr>
              <a:t>[*]: </a:t>
            </a:r>
            <a:r>
              <a:rPr lang="en-GB" sz="1000" err="1">
                <a:hlinkClick r:id="rId4"/>
              </a:rPr>
              <a:t>Roveda</a:t>
            </a:r>
            <a:r>
              <a:rPr lang="en-GB" sz="1000">
                <a:hlinkClick r:id="rId4"/>
              </a:rPr>
              <a:t>, Maccarini, Pura, </a:t>
            </a:r>
            <a:r>
              <a:rPr lang="en-GB" sz="1000" err="1">
                <a:hlinkClick r:id="rId4"/>
              </a:rPr>
              <a:t>Reiso</a:t>
            </a:r>
            <a:r>
              <a:rPr lang="en-GB" sz="1000">
                <a:hlinkClick r:id="rId4"/>
              </a:rPr>
              <a:t> &amp; Spahiu (2025) Optimizing Parcels Sorting Through Reinforcement Learning for Intralogistics. </a:t>
            </a:r>
            <a:endParaRPr lang="en-GB" sz="1000"/>
          </a:p>
        </p:txBody>
      </p:sp>
    </p:spTree>
    <p:extLst>
      <p:ext uri="{BB962C8B-B14F-4D97-AF65-F5344CB8AC3E}">
        <p14:creationId xmlns:p14="http://schemas.microsoft.com/office/powerpoint/2010/main" val="642113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A0365-378E-E0FE-76B4-AB6FBC714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FEDF703F-B2D3-F88B-083F-19CB1C185D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330" y="812653"/>
            <a:ext cx="4290300" cy="5720400"/>
          </a:xfrm>
          <a:prstGeom prst="rect">
            <a:avLst/>
          </a:prstGeom>
        </p:spPr>
      </p:pic>
      <p:sp>
        <p:nvSpPr>
          <p:cNvPr id="3" name="Titolo 2">
            <a:extLst>
              <a:ext uri="{FF2B5EF4-FFF2-40B4-BE49-F238E27FC236}">
                <a16:creationId xmlns:a16="http://schemas.microsoft.com/office/drawing/2014/main" id="{EAA78F24-569B-F05B-C83F-1AA832E38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3"/>
            <a:ext cx="5761037" cy="744686"/>
          </a:xfrm>
        </p:spPr>
        <p:txBody>
          <a:bodyPr/>
          <a:lstStyle/>
          <a:p>
            <a:r>
              <a:rPr lang="en-GB" noProof="0"/>
              <a:t>Final physical performance is evaluated using parcel-edge gaps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07C0126-8586-E12B-4049-8BDF53FBC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/>
              <a:t>15/07/2026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2D762AD-663F-0E32-88C5-40FB99E62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PPO-Based Control of an Active Motion Surface for Parcel Singulation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BA96A8A-F02A-44CC-235A-48B4255AE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GB" noProof="0" smtClean="0"/>
              <a:t>6</a:t>
            </a:fld>
            <a:endParaRPr lang="en-GB" noProof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7D1C7159-8F14-093D-2E25-83D3A43E75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060573"/>
            <a:ext cx="6484126" cy="3510996"/>
          </a:xfrm>
        </p:spPr>
        <p:txBody>
          <a:bodyPr anchor="t"/>
          <a:lstStyle/>
          <a:p>
            <a:r>
              <a:rPr lang="en-GB" sz="1800" b="1" noProof="0"/>
              <a:t>Evaluation line</a:t>
            </a:r>
          </a:p>
          <a:p>
            <a:r>
              <a:rPr lang="en-GB" noProof="0"/>
              <a:t>• Final parcel configuration at y = 2 m</a:t>
            </a:r>
          </a:p>
          <a:p>
            <a:r>
              <a:rPr lang="en-GB" noProof="0"/>
              <a:t>• After the downstream region</a:t>
            </a:r>
          </a:p>
          <a:p>
            <a:endParaRPr lang="en-GB" noProof="0"/>
          </a:p>
          <a:p>
            <a:r>
              <a:rPr lang="en-GB" sz="1800" b="1" noProof="0"/>
              <a:t>Edge-based pair gap</a:t>
            </a:r>
          </a:p>
          <a:p>
            <a:r>
              <a:rPr lang="en-GB" noProof="0"/>
              <a:t>• g = bottom(front parcel) − top(rear parcel)</a:t>
            </a:r>
          </a:p>
          <a:p>
            <a:r>
              <a:rPr lang="en-GB" noProof="0"/>
              <a:t>• Centroid distance is not used</a:t>
            </a:r>
          </a:p>
          <a:p>
            <a:endParaRPr lang="en-GB" noProof="0"/>
          </a:p>
          <a:p>
            <a:r>
              <a:rPr lang="en-GB" sz="1800" b="1" noProof="0"/>
              <a:t>Success criterion</a:t>
            </a:r>
          </a:p>
          <a:p>
            <a:r>
              <a:rPr lang="en-GB" noProof="0"/>
              <a:t>• Successful pair: g &gt; 5 mm</a:t>
            </a:r>
          </a:p>
          <a:p>
            <a:r>
              <a:rPr lang="en-GB" noProof="0"/>
              <a:t>• Reported metric: percentage of successful consecutive pairs</a:t>
            </a:r>
            <a:endParaRPr lang="en-GB" sz="1400" noProof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5B09CB0-7D57-BE15-A439-3F58FBE2809B}"/>
              </a:ext>
            </a:extLst>
          </p:cNvPr>
          <p:cNvSpPr txBox="1"/>
          <p:nvPr/>
        </p:nvSpPr>
        <p:spPr>
          <a:xfrm>
            <a:off x="334963" y="5799126"/>
            <a:ext cx="6696458" cy="492443"/>
          </a:xfrm>
          <a:prstGeom prst="rect">
            <a:avLst/>
          </a:prstGeom>
          <a:noFill/>
        </p:spPr>
        <p:txBody>
          <a:bodyPr wrap="square" lIns="792000" tIns="0" rIns="0" bIns="0" rtlCol="0">
            <a:spAutoFit/>
          </a:bodyPr>
          <a:lstStyle/>
          <a:p>
            <a:r>
              <a:rPr lang="en-GB" sz="1600" noProof="0">
                <a:solidFill>
                  <a:srgbClr val="102C53"/>
                </a:solidFill>
              </a:rPr>
              <a:t>The reward guides learning; </a:t>
            </a:r>
          </a:p>
          <a:p>
            <a:r>
              <a:rPr lang="en-GB" sz="1600" noProof="0">
                <a:solidFill>
                  <a:srgbClr val="102C53"/>
                </a:solidFill>
              </a:rPr>
              <a:t>final edge gaps evaluate physical singulation.</a:t>
            </a:r>
          </a:p>
        </p:txBody>
      </p:sp>
      <p:pic>
        <p:nvPicPr>
          <p:cNvPr id="18" name="Elemento grafico 17" descr="Punto esclamativo con riempimento a tinta unita">
            <a:extLst>
              <a:ext uri="{FF2B5EF4-FFF2-40B4-BE49-F238E27FC236}">
                <a16:creationId xmlns:a16="http://schemas.microsoft.com/office/drawing/2014/main" id="{64C500DD-A008-0716-D613-4072FFF9FD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370" y="5775347"/>
            <a:ext cx="540000" cy="540000"/>
          </a:xfrm>
          <a:prstGeom prst="rect">
            <a:avLst/>
          </a:prstGeom>
        </p:spPr>
      </p:pic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C284FC2D-1EB4-16DE-F275-AD36DB94DA17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44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E139F-FD86-564A-37D8-79DC3226C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aseline_median_test_episode">
            <a:hlinkClick r:id="" action="ppaction://media"/>
            <a:extLst>
              <a:ext uri="{FF2B5EF4-FFF2-40B4-BE49-F238E27FC236}">
                <a16:creationId xmlns:a16="http://schemas.microsoft.com/office/drawing/2014/main" id="{470F8514-D17E-2485-E035-D6D9994102B4}"/>
              </a:ext>
            </a:extLst>
          </p:cNvPr>
          <p:cNvPicPr>
            <a:picLocks noGrp="1" noChangeAspect="1"/>
          </p:cNvPicPr>
          <p:nvPr>
            <p:ph idx="17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28013" b="4798"/>
          <a:stretch>
            <a:fillRect/>
          </a:stretch>
        </p:blipFill>
        <p:spPr>
          <a:xfrm>
            <a:off x="6322980" y="808074"/>
            <a:ext cx="5443290" cy="5399051"/>
          </a:xfr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856C663D-243C-3FAE-F14D-5B52DB577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08074"/>
            <a:ext cx="5761036" cy="761756"/>
          </a:xfrm>
        </p:spPr>
        <p:txBody>
          <a:bodyPr/>
          <a:lstStyle/>
          <a:p>
            <a:r>
              <a:rPr lang="en-GB" noProof="0"/>
              <a:t>The 2000-episode PPO baseline was effective but still improvable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B8CF9EA-B0FC-257F-3836-44397AC63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/>
              <a:t>15/07/2026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BFC7103-69FF-90E0-CB83-AAE814B3D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PPO-Based Control of an Active Motion Surface for Parcel Singulation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6B21526-3238-E033-A764-B051CE6B7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GB" noProof="0" smtClean="0"/>
              <a:pPr/>
              <a:t>7</a:t>
            </a:fld>
            <a:endParaRPr lang="en-GB" noProof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84438938-824A-D7D6-15F2-0BF929417E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2" y="1557338"/>
            <a:ext cx="4159216" cy="210479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sz="1800" b="1" noProof="0"/>
              <a:t>Reference PPO setup</a:t>
            </a:r>
          </a:p>
          <a:p>
            <a:pPr>
              <a:lnSpc>
                <a:spcPct val="100000"/>
              </a:lnSpc>
            </a:pPr>
            <a:r>
              <a:rPr lang="en-GB" noProof="0"/>
              <a:t>Experience horizon: 	500</a:t>
            </a:r>
          </a:p>
          <a:p>
            <a:pPr>
              <a:lnSpc>
                <a:spcPct val="100000"/>
              </a:lnSpc>
            </a:pPr>
            <a:r>
              <a:rPr lang="en-GB" noProof="0"/>
              <a:t>Clip factor: 		0.20</a:t>
            </a:r>
          </a:p>
          <a:p>
            <a:pPr>
              <a:lnSpc>
                <a:spcPct val="100000"/>
              </a:lnSpc>
            </a:pPr>
            <a:r>
              <a:rPr lang="en-GB" noProof="0"/>
              <a:t>Actor/Critic LR: 		1e-4</a:t>
            </a:r>
          </a:p>
          <a:p>
            <a:pPr>
              <a:lnSpc>
                <a:spcPct val="100000"/>
              </a:lnSpc>
            </a:pPr>
            <a:r>
              <a:rPr lang="en-GB" noProof="0"/>
              <a:t>GAE factor: 		0.95</a:t>
            </a:r>
          </a:p>
          <a:p>
            <a:pPr>
              <a:lnSpc>
                <a:spcPct val="100000"/>
              </a:lnSpc>
            </a:pPr>
            <a:r>
              <a:rPr lang="en-GB" noProof="0"/>
              <a:t>Discount factor: 		0.99</a:t>
            </a:r>
          </a:p>
          <a:p>
            <a:pPr>
              <a:lnSpc>
                <a:spcPct val="100000"/>
              </a:lnSpc>
            </a:pPr>
            <a:r>
              <a:rPr lang="en-GB" noProof="0"/>
              <a:t>Entropy weight: 		0.01</a:t>
            </a:r>
          </a:p>
          <a:p>
            <a:pPr>
              <a:lnSpc>
                <a:spcPct val="100000"/>
              </a:lnSpc>
            </a:pPr>
            <a:r>
              <a:rPr lang="en-GB" noProof="0"/>
              <a:t>Training seed:		1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31B51503-91FF-DDE1-D515-47A056F46F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anchor="ctr"/>
          <a:lstStyle/>
          <a:p>
            <a:pPr algn="ctr"/>
            <a:r>
              <a:rPr lang="en-GB" noProof="0"/>
              <a:t>Example nominal test rollout for the reference PPO baseline</a:t>
            </a:r>
          </a:p>
        </p:txBody>
      </p:sp>
      <p:sp>
        <p:nvSpPr>
          <p:cNvPr id="18" name="Segnaposto testo 5">
            <a:extLst>
              <a:ext uri="{FF2B5EF4-FFF2-40B4-BE49-F238E27FC236}">
                <a16:creationId xmlns:a16="http://schemas.microsoft.com/office/drawing/2014/main" id="{6AE56CD1-582E-CAE6-1A8F-EAF4D1D42E72}"/>
              </a:ext>
            </a:extLst>
          </p:cNvPr>
          <p:cNvSpPr txBox="1">
            <a:spLocks/>
          </p:cNvSpPr>
          <p:nvPr/>
        </p:nvSpPr>
        <p:spPr>
          <a:xfrm>
            <a:off x="334962" y="3662134"/>
            <a:ext cx="4159215" cy="22989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800" b="1" noProof="0"/>
              <a:t>Reference PPO physical performance</a:t>
            </a:r>
          </a:p>
          <a:p>
            <a:pPr>
              <a:lnSpc>
                <a:spcPct val="100000"/>
              </a:lnSpc>
            </a:pPr>
            <a:r>
              <a:rPr lang="en-GB" noProof="0"/>
              <a:t>Mean final accuracy&gt;5mm: 	93.44 %</a:t>
            </a:r>
          </a:p>
          <a:p>
            <a:pPr>
              <a:lnSpc>
                <a:spcPct val="100000"/>
              </a:lnSpc>
            </a:pPr>
            <a:r>
              <a:rPr lang="en-GB" noProof="0"/>
              <a:t>Std. Deviation:		8.66 pp</a:t>
            </a:r>
          </a:p>
          <a:p>
            <a:pPr>
              <a:lnSpc>
                <a:spcPct val="100000"/>
              </a:lnSpc>
            </a:pPr>
            <a:r>
              <a:rPr lang="en-GB" noProof="0"/>
              <a:t>Worst episode accuracy:	66.67 %</a:t>
            </a:r>
          </a:p>
          <a:p>
            <a:pPr>
              <a:lnSpc>
                <a:spcPct val="100000"/>
              </a:lnSpc>
            </a:pPr>
            <a:r>
              <a:rPr lang="en-GB" noProof="0"/>
              <a:t>Mean Throughput:	 	8250.1 </a:t>
            </a:r>
            <a:r>
              <a:rPr lang="en-GB" noProof="0" err="1"/>
              <a:t>pph</a:t>
            </a:r>
            <a:endParaRPr lang="en-GB" noProof="0"/>
          </a:p>
          <a:p>
            <a:pPr>
              <a:lnSpc>
                <a:spcPct val="100000"/>
              </a:lnSpc>
            </a:pPr>
            <a:r>
              <a:rPr lang="en-GB" noProof="0"/>
              <a:t>Mean max overlap:		0.0500m</a:t>
            </a:r>
          </a:p>
          <a:p>
            <a:pPr>
              <a:lnSpc>
                <a:spcPct val="100000"/>
              </a:lnSpc>
            </a:pPr>
            <a:r>
              <a:rPr lang="en-GB" noProof="0"/>
              <a:t>Mean Collision count: 	20.53</a:t>
            </a:r>
          </a:p>
          <a:p>
            <a:pPr>
              <a:lnSpc>
                <a:spcPct val="100000"/>
              </a:lnSpc>
            </a:pPr>
            <a:r>
              <a:rPr lang="en-GB" noProof="0"/>
              <a:t>Evaluation seed base:	3000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6380DA8-34AC-F814-240D-3557E519B6EE}"/>
              </a:ext>
            </a:extLst>
          </p:cNvPr>
          <p:cNvSpPr txBox="1"/>
          <p:nvPr/>
        </p:nvSpPr>
        <p:spPr>
          <a:xfrm>
            <a:off x="4263317" y="4379349"/>
            <a:ext cx="1984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noProof="0">
                <a:solidFill>
                  <a:srgbClr val="00B050"/>
                </a:solidFill>
              </a:rPr>
              <a:t>Margin to improve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17FFA10E-8BBA-491C-AA74-998BBD039817}"/>
              </a:ext>
            </a:extLst>
          </p:cNvPr>
          <p:cNvSpPr txBox="1"/>
          <p:nvPr/>
        </p:nvSpPr>
        <p:spPr>
          <a:xfrm>
            <a:off x="3957236" y="4335065"/>
            <a:ext cx="367386" cy="369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>
                <a:sym typeface="Symbol" panose="05050102010706020507" pitchFamily="18" charset="2"/>
              </a:rPr>
              <a:t></a:t>
            </a:r>
            <a:endParaRPr lang="en-GB" noProof="0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A5E3239A-7907-7141-C6E3-FB96EA5E8A8F}"/>
              </a:ext>
            </a:extLst>
          </p:cNvPr>
          <p:cNvSpPr txBox="1"/>
          <p:nvPr/>
        </p:nvSpPr>
        <p:spPr>
          <a:xfrm>
            <a:off x="4263317" y="4870157"/>
            <a:ext cx="1984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noProof="0">
                <a:solidFill>
                  <a:srgbClr val="00B050"/>
                </a:solidFill>
              </a:rPr>
              <a:t>Margin to improve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19F556A6-CFAB-9B40-F793-2101FD56E580}"/>
              </a:ext>
            </a:extLst>
          </p:cNvPr>
          <p:cNvSpPr txBox="1"/>
          <p:nvPr/>
        </p:nvSpPr>
        <p:spPr>
          <a:xfrm>
            <a:off x="3957236" y="4825873"/>
            <a:ext cx="367386" cy="369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>
                <a:sym typeface="Symbol" panose="05050102010706020507" pitchFamily="18" charset="2"/>
              </a:rPr>
              <a:t></a:t>
            </a:r>
            <a:endParaRPr lang="en-GB" noProof="0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D9BA11DC-7F7A-C722-628B-751D7913508D}"/>
              </a:ext>
            </a:extLst>
          </p:cNvPr>
          <p:cNvSpPr txBox="1"/>
          <p:nvPr/>
        </p:nvSpPr>
        <p:spPr>
          <a:xfrm>
            <a:off x="334963" y="5996262"/>
            <a:ext cx="5761037" cy="49244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GB" sz="1600" noProof="0"/>
              <a:t>High average performance was achieved, but worst-case episodes and residual overlap motivated </a:t>
            </a:r>
            <a:r>
              <a:rPr lang="en-GB" sz="1600" b="1" noProof="0"/>
              <a:t>PPO</a:t>
            </a:r>
            <a:r>
              <a:rPr lang="en-GB" sz="1600" noProof="0"/>
              <a:t> </a:t>
            </a:r>
            <a:r>
              <a:rPr lang="en-GB" sz="1600" b="1" noProof="0"/>
              <a:t>tuning</a:t>
            </a:r>
            <a:r>
              <a:rPr lang="en-GB" sz="1600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870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666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DAE8B-E0B7-8061-55F2-127BB03E2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801CA3-387D-FA4E-49AD-0FE647425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08074"/>
            <a:ext cx="5761036" cy="761756"/>
          </a:xfrm>
        </p:spPr>
        <p:txBody>
          <a:bodyPr/>
          <a:lstStyle/>
          <a:p>
            <a:r>
              <a:rPr lang="en-GB" noProof="0"/>
              <a:t>Bayesian Optimization candidates outperformed the reference baseline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8757668-5912-A984-3BB2-49B577589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/>
              <a:t>15/07/2026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07480A2-5B3C-6A76-8DA4-B751AD76B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PPO-Based Control of an Active Motion Surface for Parcel Singulation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9007083-C69F-FE7E-06CC-F65B79A25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GB" noProof="0" smtClean="0"/>
              <a:pPr/>
              <a:t>8</a:t>
            </a:fld>
            <a:endParaRPr lang="en-GB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testo 10">
                <a:extLst>
                  <a:ext uri="{FF2B5EF4-FFF2-40B4-BE49-F238E27FC236}">
                    <a16:creationId xmlns:a16="http://schemas.microsoft.com/office/drawing/2014/main" id="{70A5739B-F87F-2102-22BB-40D07C288C88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6329680" y="1569830"/>
                <a:ext cx="5527354" cy="4919870"/>
              </a:xfrm>
            </p:spPr>
            <p:txBody>
              <a:bodyPr anchor="ctr"/>
              <a:lstStyle/>
              <a:p>
                <a:pPr>
                  <a:lnSpc>
                    <a:spcPct val="100000"/>
                  </a:lnSpc>
                </a:pPr>
                <a:r>
                  <a:rPr lang="en-GB" b="1" noProof="0"/>
                  <a:t>BO setup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noProof="0"/>
                  <a:t>• 2000 training episodes per configuration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noProof="0"/>
                  <a:t>• 100 nominal evaluation episodes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noProof="0"/>
                  <a:t>• Objective: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noProof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i="1" noProof="0" smtClean="0">
                              <a:latin typeface="Cambria Math" panose="02040503050406030204" pitchFamily="18" charset="0"/>
                            </a:rPr>
                            <m:t>⋆</m:t>
                          </m:r>
                        </m:sup>
                      </m:sSup>
                      <m:r>
                        <a:rPr lang="en-GB" i="1" noProof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i="0" noProof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GB" i="1" noProof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i="0" noProof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GB" i="1" noProof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GB" i="1" noProof="0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GB" i="0" noProof="0" smtClean="0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bar>
                                        <m:barPr>
                                          <m:pos m:val="top"/>
                                          <m:ctrlPr>
                                            <a:rPr lang="en-GB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en-GB" i="1" noProof="0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</m:ba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GB" i="0" noProof="0" smtClean="0">
                                          <a:latin typeface="Cambria Math" panose="02040503050406030204" pitchFamily="18" charset="0"/>
                                        </a:rPr>
                                        <m:t>gt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GB" i="0" noProof="0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GB" i="0" noProof="0" smtClean="0">
                                          <a:latin typeface="Cambria Math" panose="02040503050406030204" pitchFamily="18" charset="0"/>
                                        </a:rPr>
                                        <m:t>mm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GB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 noProof="0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GB" noProof="0"/>
              </a:p>
              <a:p>
                <a:pPr>
                  <a:lnSpc>
                    <a:spcPct val="150000"/>
                  </a:lnSpc>
                </a:pPr>
                <a:r>
                  <a:rPr lang="en-GB" noProof="0"/>
                  <a:t>Ā</a:t>
                </a:r>
                <a:r>
                  <a:rPr lang="en-GB" baseline="-25000" noProof="0"/>
                  <a:t>gt5mm</a:t>
                </a:r>
                <a:r>
                  <a:rPr lang="en-GB" noProof="0"/>
                  <a:t> = Mean Final Accuracy&gt;5mm </a:t>
                </a:r>
              </a:p>
              <a:p>
                <a:endParaRPr lang="en-GB" b="1" noProof="0"/>
              </a:p>
              <a:p>
                <a:r>
                  <a:rPr lang="en-GB" b="1" noProof="0"/>
                  <a:t>Key interpretation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noProof="0"/>
                  <a:t>• BO candidates improve both accuracy and worst-case </a:t>
                </a:r>
                <a:r>
                  <a:rPr lang="en-GB" noProof="0" err="1"/>
                  <a:t>behavior</a:t>
                </a:r>
                <a:r>
                  <a:rPr lang="en-GB" noProof="0"/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noProof="0"/>
                  <a:t>• BO_014 gives the best accuracy, lowest std, and lowest overlap.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noProof="0"/>
                  <a:t>• BO_018 remains a strong throughput-efficient alternative.</a:t>
                </a:r>
              </a:p>
              <a:p>
                <a:pPr>
                  <a:lnSpc>
                    <a:spcPct val="100000"/>
                  </a:lnSpc>
                </a:pPr>
                <a:endParaRPr lang="en-GB" noProof="0"/>
              </a:p>
              <a:p>
                <a:pPr>
                  <a:lnSpc>
                    <a:spcPct val="100000"/>
                  </a:lnSpc>
                </a:pPr>
                <a:r>
                  <a:rPr lang="en-GB" b="1" noProof="0">
                    <a:solidFill>
                      <a:srgbClr val="009E73"/>
                    </a:solidFill>
                  </a:rPr>
                  <a:t>Final choice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noProof="0"/>
                  <a:t>BO_014 prioritizes physical singulation quality over maximum throughput.</a:t>
                </a:r>
              </a:p>
            </p:txBody>
          </p:sp>
        </mc:Choice>
        <mc:Fallback xmlns="">
          <p:sp>
            <p:nvSpPr>
              <p:cNvPr id="11" name="Segnaposto testo 10">
                <a:extLst>
                  <a:ext uri="{FF2B5EF4-FFF2-40B4-BE49-F238E27FC236}">
                    <a16:creationId xmlns:a16="http://schemas.microsoft.com/office/drawing/2014/main" id="{70A5739B-F87F-2102-22BB-40D07C288C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6329680" y="1569830"/>
                <a:ext cx="5527354" cy="4919870"/>
              </a:xfrm>
              <a:blipFill>
                <a:blip r:embed="rId3"/>
                <a:stretch>
                  <a:fillRect l="-2205" t="-1487" r="-221" b="-27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Grafico 8">
            <a:extLst>
              <a:ext uri="{FF2B5EF4-FFF2-40B4-BE49-F238E27FC236}">
                <a16:creationId xmlns:a16="http://schemas.microsoft.com/office/drawing/2014/main" id="{095949F2-1444-88D2-E1BD-6CAD0A439500}"/>
              </a:ext>
            </a:extLst>
          </p:cNvPr>
          <p:cNvGraphicFramePr/>
          <p:nvPr/>
        </p:nvGraphicFramePr>
        <p:xfrm>
          <a:off x="333948" y="1557338"/>
          <a:ext cx="5761034" cy="3224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egnaposto contenuto 13">
            <a:extLst>
              <a:ext uri="{FF2B5EF4-FFF2-40B4-BE49-F238E27FC236}">
                <a16:creationId xmlns:a16="http://schemas.microsoft.com/office/drawing/2014/main" id="{1981B563-2372-3407-4C6A-E4DB4644C7DC}"/>
              </a:ext>
            </a:extLst>
          </p:cNvPr>
          <p:cNvGraphicFramePr>
            <a:graphicFrameLocks noGrp="1"/>
          </p:cNvGraphicFramePr>
          <p:nvPr>
            <p:ph idx="17"/>
          </p:nvPr>
        </p:nvGraphicFramePr>
        <p:xfrm>
          <a:off x="393582" y="4801578"/>
          <a:ext cx="5643800" cy="1688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950">
                  <a:extLst>
                    <a:ext uri="{9D8B030D-6E8A-4147-A177-3AD203B41FA5}">
                      <a16:colId xmlns:a16="http://schemas.microsoft.com/office/drawing/2014/main" val="3957338146"/>
                    </a:ext>
                  </a:extLst>
                </a:gridCol>
                <a:gridCol w="1410950">
                  <a:extLst>
                    <a:ext uri="{9D8B030D-6E8A-4147-A177-3AD203B41FA5}">
                      <a16:colId xmlns:a16="http://schemas.microsoft.com/office/drawing/2014/main" val="2128294318"/>
                    </a:ext>
                  </a:extLst>
                </a:gridCol>
                <a:gridCol w="1410950">
                  <a:extLst>
                    <a:ext uri="{9D8B030D-6E8A-4147-A177-3AD203B41FA5}">
                      <a16:colId xmlns:a16="http://schemas.microsoft.com/office/drawing/2014/main" val="3000275216"/>
                    </a:ext>
                  </a:extLst>
                </a:gridCol>
                <a:gridCol w="1410950">
                  <a:extLst>
                    <a:ext uri="{9D8B030D-6E8A-4147-A177-3AD203B41FA5}">
                      <a16:colId xmlns:a16="http://schemas.microsoft.com/office/drawing/2014/main" val="4203728789"/>
                    </a:ext>
                  </a:extLst>
                </a:gridCol>
              </a:tblGrid>
              <a:tr h="321090"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/>
                        <a:t>Set</a:t>
                      </a:r>
                    </a:p>
                  </a:txBody>
                  <a:tcPr marL="0" marR="0" marT="0" marB="0" anchor="ctr">
                    <a:solidFill>
                      <a:srgbClr val="102C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/>
                        <a:t>Mean overlap [m]</a:t>
                      </a:r>
                    </a:p>
                  </a:txBody>
                  <a:tcPr marL="0" marR="0" marT="0" marB="0" anchor="ctr">
                    <a:solidFill>
                      <a:srgbClr val="102C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/>
                        <a:t>Throughput [pph]</a:t>
                      </a:r>
                    </a:p>
                  </a:txBody>
                  <a:tcPr marL="0" marR="0" marT="0" marB="0" anchor="ctr">
                    <a:solidFill>
                      <a:srgbClr val="102C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/>
                        <a:t>Collisions</a:t>
                      </a:r>
                    </a:p>
                  </a:txBody>
                  <a:tcPr marL="0" marR="0" marT="0" marB="0" anchor="ctr">
                    <a:solidFill>
                      <a:srgbClr val="102C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112590"/>
                  </a:ext>
                </a:extLst>
              </a:tr>
              <a:tr h="341758"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/>
                        <a:t>Baseline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/>
                        <a:t>0,0500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/>
                        <a:t>8250,1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/>
                        <a:t>20,53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77620868"/>
                  </a:ext>
                </a:extLst>
              </a:tr>
              <a:tr h="341758"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/>
                        <a:t>BO_008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/>
                        <a:t>0,0222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/>
                        <a:t>8052,1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/>
                        <a:t>5,05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85926356"/>
                  </a:ext>
                </a:extLst>
              </a:tr>
              <a:tr h="341758">
                <a:tc>
                  <a:txBody>
                    <a:bodyPr/>
                    <a:lstStyle/>
                    <a:p>
                      <a:pPr algn="ctr"/>
                      <a:r>
                        <a:rPr lang="en-GB" sz="1200" b="1" noProof="0">
                          <a:solidFill>
                            <a:schemeClr val="bg1"/>
                          </a:solidFill>
                        </a:rPr>
                        <a:t>BO_014</a:t>
                      </a:r>
                    </a:p>
                  </a:txBody>
                  <a:tcPr marL="0" marR="0" marT="0" marB="0" anchor="ctr">
                    <a:solidFill>
                      <a:srgbClr val="009E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noProof="0">
                          <a:solidFill>
                            <a:schemeClr val="bg1"/>
                          </a:solidFill>
                        </a:rPr>
                        <a:t>0,00133</a:t>
                      </a:r>
                    </a:p>
                  </a:txBody>
                  <a:tcPr marL="0" marR="0" marT="0" marB="0" anchor="ctr">
                    <a:solidFill>
                      <a:srgbClr val="009E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noProof="0">
                          <a:solidFill>
                            <a:schemeClr val="bg1"/>
                          </a:solidFill>
                        </a:rPr>
                        <a:t>7874,2</a:t>
                      </a:r>
                    </a:p>
                  </a:txBody>
                  <a:tcPr marL="0" marR="0" marT="0" marB="0" anchor="ctr">
                    <a:solidFill>
                      <a:srgbClr val="009E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noProof="0">
                          <a:solidFill>
                            <a:schemeClr val="bg1"/>
                          </a:solidFill>
                        </a:rPr>
                        <a:t>1,00</a:t>
                      </a:r>
                    </a:p>
                  </a:txBody>
                  <a:tcPr marL="0" marR="0" marT="0" marB="0" anchor="ctr">
                    <a:solidFill>
                      <a:srgbClr val="009E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965757"/>
                  </a:ext>
                </a:extLst>
              </a:tr>
              <a:tr h="341758"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/>
                        <a:t>BO_018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/>
                        <a:t>0,00352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/>
                        <a:t>8244,7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/>
                        <a:t>0,25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72649987"/>
                  </a:ext>
                </a:extLst>
              </a:tr>
            </a:tbl>
          </a:graphicData>
        </a:graphic>
      </p:graphicFrame>
      <p:sp>
        <p:nvSpPr>
          <p:cNvPr id="10" name="Rettangolo 9">
            <a:extLst>
              <a:ext uri="{FF2B5EF4-FFF2-40B4-BE49-F238E27FC236}">
                <a16:creationId xmlns:a16="http://schemas.microsoft.com/office/drawing/2014/main" id="{A9DDF9D5-B89F-5EAD-4C9F-63192A395929}"/>
              </a:ext>
            </a:extLst>
          </p:cNvPr>
          <p:cNvSpPr/>
          <p:nvPr/>
        </p:nvSpPr>
        <p:spPr>
          <a:xfrm>
            <a:off x="6154620" y="1557337"/>
            <a:ext cx="5702418" cy="52609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BD70326-E0E8-01CE-630B-7B1A7476860F}"/>
              </a:ext>
            </a:extLst>
          </p:cNvPr>
          <p:cNvSpPr txBox="1"/>
          <p:nvPr/>
        </p:nvSpPr>
        <p:spPr>
          <a:xfrm>
            <a:off x="6253651" y="1569830"/>
            <a:ext cx="5603383" cy="221599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GB" sz="1600" b="1" noProof="0"/>
              <a:t>PPO parameter		Baseline		BO_014</a:t>
            </a:r>
          </a:p>
          <a:p>
            <a:r>
              <a:rPr lang="en-GB" sz="1600" noProof="0"/>
              <a:t>Experience horizon: 	500		400</a:t>
            </a:r>
          </a:p>
          <a:p>
            <a:r>
              <a:rPr lang="en-GB" sz="1600" noProof="0"/>
              <a:t>Clip factor: 		0.20		0.098</a:t>
            </a:r>
          </a:p>
          <a:p>
            <a:r>
              <a:rPr lang="en-GB" sz="1600" noProof="0"/>
              <a:t>Actor LR:			1e-4		5,66e-5</a:t>
            </a:r>
          </a:p>
          <a:p>
            <a:r>
              <a:rPr lang="en-GB" sz="1600" noProof="0"/>
              <a:t>Critic LR: 			1e-4		2,96e-4</a:t>
            </a:r>
          </a:p>
          <a:p>
            <a:r>
              <a:rPr lang="en-GB" sz="1600" noProof="0"/>
              <a:t>GAE factor: 		0.95		0.959</a:t>
            </a:r>
          </a:p>
          <a:p>
            <a:r>
              <a:rPr lang="en-GB" sz="1600" noProof="0"/>
              <a:t>Discount factor: 		0.99		0.995</a:t>
            </a:r>
          </a:p>
          <a:p>
            <a:r>
              <a:rPr lang="en-GB" sz="1600" noProof="0"/>
              <a:t>Entropy weight: 		0.01		1,60e-4</a:t>
            </a:r>
          </a:p>
          <a:p>
            <a:r>
              <a:rPr lang="en-GB" sz="1600" noProof="0"/>
              <a:t>Epochs:			3		4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7DA6EC1-CC96-1DB3-F7CE-C807B5FD92B7}"/>
              </a:ext>
            </a:extLst>
          </p:cNvPr>
          <p:cNvSpPr txBox="1"/>
          <p:nvPr/>
        </p:nvSpPr>
        <p:spPr>
          <a:xfrm>
            <a:off x="6253655" y="4221295"/>
            <a:ext cx="5603383" cy="2262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b="1" noProof="0"/>
              <a:t>Parameter shift interpretation</a:t>
            </a:r>
          </a:p>
          <a:p>
            <a:r>
              <a:rPr lang="en-GB" sz="1600" noProof="0"/>
              <a:t>• Smaller </a:t>
            </a:r>
            <a:r>
              <a:rPr lang="en-GB" sz="1600" b="1" noProof="0"/>
              <a:t>clip factor </a:t>
            </a:r>
            <a:r>
              <a:rPr lang="en-GB" sz="1600" noProof="0"/>
              <a:t>and lower </a:t>
            </a:r>
            <a:r>
              <a:rPr lang="en-GB" sz="1600" b="1" noProof="0"/>
              <a:t>actor LR </a:t>
            </a:r>
            <a:r>
              <a:rPr lang="en-GB" sz="1600" noProof="0"/>
              <a:t>suggest more conservative policy updates.</a:t>
            </a:r>
          </a:p>
          <a:p>
            <a:r>
              <a:rPr lang="en-GB" sz="1600" noProof="0"/>
              <a:t>• Higher </a:t>
            </a:r>
            <a:r>
              <a:rPr lang="en-GB" sz="1600" b="1" noProof="0"/>
              <a:t>critic LR </a:t>
            </a:r>
            <a:r>
              <a:rPr lang="en-GB" sz="1600" noProof="0"/>
              <a:t>and one extra </a:t>
            </a:r>
            <a:r>
              <a:rPr lang="en-GB" sz="1600" b="1" noProof="0"/>
              <a:t>epoch</a:t>
            </a:r>
            <a:r>
              <a:rPr lang="en-GB" sz="1600" noProof="0"/>
              <a:t> improve value-function fitting during PPO updates.</a:t>
            </a:r>
          </a:p>
          <a:p>
            <a:r>
              <a:rPr lang="en-GB" sz="1600" noProof="0"/>
              <a:t>• Much lower </a:t>
            </a:r>
            <a:r>
              <a:rPr lang="en-GB" sz="1600" b="1" noProof="0"/>
              <a:t>entropy</a:t>
            </a:r>
            <a:r>
              <a:rPr lang="en-GB" sz="1600" noProof="0"/>
              <a:t> </a:t>
            </a:r>
            <a:r>
              <a:rPr lang="en-GB" sz="1600" b="1" noProof="0"/>
              <a:t>weight</a:t>
            </a:r>
            <a:r>
              <a:rPr lang="en-GB" sz="1600" noProof="0"/>
              <a:t> reduces exploration once the policy has learned a stable singulation </a:t>
            </a:r>
            <a:r>
              <a:rPr lang="en-GB" sz="1600" noProof="0" err="1"/>
              <a:t>behavior</a:t>
            </a:r>
            <a:r>
              <a:rPr lang="en-GB" sz="1600" noProof="0"/>
              <a:t>.</a:t>
            </a:r>
          </a:p>
          <a:p>
            <a:r>
              <a:rPr lang="en-GB" sz="1600" noProof="0"/>
              <a:t>• Slightly higher </a:t>
            </a:r>
            <a:r>
              <a:rPr lang="en-GB" sz="1600" b="1" noProof="0"/>
              <a:t>discount</a:t>
            </a:r>
            <a:r>
              <a:rPr lang="en-GB" sz="1600" noProof="0"/>
              <a:t> </a:t>
            </a:r>
            <a:r>
              <a:rPr lang="en-GB" sz="1600" b="1" noProof="0"/>
              <a:t>factor</a:t>
            </a:r>
            <a:r>
              <a:rPr lang="en-GB" sz="1600" noProof="0"/>
              <a:t> keeps downstream separation more relevant in the optimization.</a:t>
            </a:r>
          </a:p>
        </p:txBody>
      </p:sp>
    </p:spTree>
    <p:extLst>
      <p:ext uri="{BB962C8B-B14F-4D97-AF65-F5344CB8AC3E}">
        <p14:creationId xmlns:p14="http://schemas.microsoft.com/office/powerpoint/2010/main" val="424395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06F1B-ECB4-C414-0E84-8BCAC26C5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A0BB3C-977C-B343-20F8-E59E8E1DE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08074"/>
            <a:ext cx="5761036" cy="761756"/>
          </a:xfrm>
        </p:spPr>
        <p:txBody>
          <a:bodyPr/>
          <a:lstStyle/>
          <a:p>
            <a:r>
              <a:rPr lang="en-GB" noProof="0"/>
              <a:t>Multiseed validation confirmed the robustness of BO_014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B4AB9A6-08EB-3D60-5794-538C06F54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/>
              <a:t>15/07/2026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0955205-9788-B241-72CD-30D445728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PPO-Based Control of an Active Motion Surface for Parcel Singulation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1FF340D-C2CE-8B34-57D6-ECB23685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GB" noProof="0" smtClean="0"/>
              <a:pPr/>
              <a:t>9</a:t>
            </a:fld>
            <a:endParaRPr lang="en-GB" noProof="0"/>
          </a:p>
        </p:txBody>
      </p:sp>
      <p:graphicFrame>
        <p:nvGraphicFramePr>
          <p:cNvPr id="21" name="Grafico 20">
            <a:extLst>
              <a:ext uri="{FF2B5EF4-FFF2-40B4-BE49-F238E27FC236}">
                <a16:creationId xmlns:a16="http://schemas.microsoft.com/office/drawing/2014/main" id="{C12BB60B-4D98-3137-1167-D1A99512F6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2853248"/>
              </p:ext>
            </p:extLst>
          </p:nvPr>
        </p:nvGraphicFramePr>
        <p:xfrm>
          <a:off x="330199" y="4242232"/>
          <a:ext cx="5750561" cy="2441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6EC1731B-F7BD-C090-F56E-6AE7646A85CA}"/>
              </a:ext>
            </a:extLst>
          </p:cNvPr>
          <p:cNvSpPr txBox="1"/>
          <p:nvPr/>
        </p:nvSpPr>
        <p:spPr>
          <a:xfrm>
            <a:off x="330199" y="1861348"/>
            <a:ext cx="5532121" cy="19697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GB" sz="1600" b="1" noProof="0"/>
              <a:t>Multiseed validation</a:t>
            </a:r>
          </a:p>
          <a:p>
            <a:r>
              <a:rPr lang="en-GB" sz="1600" noProof="0"/>
              <a:t>• Final configuration: BO_014</a:t>
            </a:r>
          </a:p>
          <a:p>
            <a:r>
              <a:rPr lang="en-GB" sz="1600" noProof="0"/>
              <a:t>• 4 independent PPO training seeds</a:t>
            </a:r>
          </a:p>
          <a:p>
            <a:r>
              <a:rPr lang="en-GB" sz="1600" noProof="0"/>
              <a:t>• 100 nominal evaluation episodes per seed</a:t>
            </a:r>
          </a:p>
          <a:p>
            <a:endParaRPr lang="en-GB" sz="1600" noProof="0"/>
          </a:p>
          <a:p>
            <a:r>
              <a:rPr lang="en-GB" sz="1600" b="1" noProof="0"/>
              <a:t>Training diagnostic</a:t>
            </a:r>
          </a:p>
          <a:p>
            <a:r>
              <a:rPr lang="en-GB" sz="1600" noProof="0"/>
              <a:t>• Reward trends indicate stable PPO training across seeds.</a:t>
            </a:r>
          </a:p>
          <a:p>
            <a:r>
              <a:rPr lang="en-GB" sz="1600" noProof="0"/>
              <a:t>• AverageReward is not used as the final success metric.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8DC1040-CBEF-E7B0-3AF4-3A50DDD5F816}"/>
              </a:ext>
            </a:extLst>
          </p:cNvPr>
          <p:cNvSpPr txBox="1"/>
          <p:nvPr/>
        </p:nvSpPr>
        <p:spPr>
          <a:xfrm>
            <a:off x="6471920" y="4456803"/>
            <a:ext cx="5389883" cy="19697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GB" sz="1600" b="1" noProof="0"/>
              <a:t>Physical robustness</a:t>
            </a:r>
          </a:p>
          <a:p>
            <a:r>
              <a:rPr lang="en-GB" sz="1600" noProof="0"/>
              <a:t>• Mean accuracy across seeds: 97.86%</a:t>
            </a:r>
          </a:p>
          <a:p>
            <a:r>
              <a:rPr lang="en-GB" sz="1600" noProof="0"/>
              <a:t>• Std across training seeds: 2.22 pp</a:t>
            </a:r>
          </a:p>
          <a:p>
            <a:r>
              <a:rPr lang="en-GB" sz="1600" noProof="0"/>
              <a:t>• Worst episode across all seeds: 77.78%</a:t>
            </a:r>
          </a:p>
          <a:p>
            <a:endParaRPr lang="en-GB" sz="1600" noProof="0"/>
          </a:p>
          <a:p>
            <a:r>
              <a:rPr lang="en-GB" sz="1600" b="1" noProof="0">
                <a:solidFill>
                  <a:srgbClr val="009E73"/>
                </a:solidFill>
              </a:rPr>
              <a:t>BO_014</a:t>
            </a:r>
            <a:r>
              <a:rPr lang="en-GB" sz="1600" noProof="0"/>
              <a:t> is not dependent on a single PPO training realization and remains </a:t>
            </a:r>
            <a:r>
              <a:rPr lang="en-GB" sz="1600" b="1" noProof="0"/>
              <a:t>physically effective</a:t>
            </a:r>
            <a:r>
              <a:rPr lang="en-GB" sz="1600" noProof="0"/>
              <a:t> across </a:t>
            </a:r>
            <a:r>
              <a:rPr lang="en-GB" sz="1600" b="1" noProof="0"/>
              <a:t>different random seeds</a:t>
            </a:r>
            <a:r>
              <a:rPr lang="en-GB" sz="1600" noProof="0"/>
              <a:t>.</a:t>
            </a: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9B6DE455-DA55-7B13-AE1D-2C9DCFA51BF6}"/>
              </a:ext>
            </a:extLst>
          </p:cNvPr>
          <p:cNvGrpSpPr/>
          <p:nvPr/>
        </p:nvGrpSpPr>
        <p:grpSpPr>
          <a:xfrm>
            <a:off x="6090920" y="1381760"/>
            <a:ext cx="5759380" cy="2928836"/>
            <a:chOff x="6090920" y="1381760"/>
            <a:chExt cx="5759380" cy="2928836"/>
          </a:xfrm>
        </p:grpSpPr>
        <p:pic>
          <p:nvPicPr>
            <p:cNvPr id="11" name="Immagine 10">
              <a:extLst>
                <a:ext uri="{FF2B5EF4-FFF2-40B4-BE49-F238E27FC236}">
                  <a16:creationId xmlns:a16="http://schemas.microsoft.com/office/drawing/2014/main" id="{32A8EE36-AB0A-47F9-8663-40D24AFF7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0920" y="1563796"/>
              <a:ext cx="5759380" cy="2746800"/>
            </a:xfrm>
            <a:prstGeom prst="rect">
              <a:avLst/>
            </a:prstGeom>
          </p:spPr>
        </p:pic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748D2B73-79DB-9C20-B979-F3CB86FABADA}"/>
                </a:ext>
              </a:extLst>
            </p:cNvPr>
            <p:cNvSpPr txBox="1"/>
            <p:nvPr/>
          </p:nvSpPr>
          <p:spPr>
            <a:xfrm>
              <a:off x="6471920" y="1381760"/>
              <a:ext cx="524256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GB" sz="1200" b="1" noProof="0"/>
                <a:t>BO_014 multiseed training average reward trend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2690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71E4D-D058-0DA1-9912-9649C7140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1969F7-07DA-8C0F-59EA-038EB215D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08074"/>
            <a:ext cx="5761036" cy="761756"/>
          </a:xfrm>
        </p:spPr>
        <p:txBody>
          <a:bodyPr/>
          <a:lstStyle/>
          <a:p>
            <a:r>
              <a:rPr lang="en-GB" noProof="0"/>
              <a:t>Non-nominal stress tests evaluated the operating limits of BO_014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5D2A9E4-BE91-4483-1A6E-E4D5ECF1F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/>
              <a:t>15/07/2026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058E07D-4A4F-2E4B-2ADC-45129C509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PPO-Based Control of an Active Motion Surface for Parcel Singulation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0710389-84E0-47F2-E500-E672C270F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GB" noProof="0" smtClean="0"/>
              <a:pPr/>
              <a:t>10</a:t>
            </a:fld>
            <a:endParaRPr lang="en-GB" noProof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B64CA80-7037-D110-A1B8-1820D8BFCC42}"/>
              </a:ext>
            </a:extLst>
          </p:cNvPr>
          <p:cNvSpPr txBox="1"/>
          <p:nvPr/>
        </p:nvSpPr>
        <p:spPr>
          <a:xfrm>
            <a:off x="337127" y="2308029"/>
            <a:ext cx="55903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600" noProof="0"/>
          </a:p>
          <a:p>
            <a:r>
              <a:rPr lang="en-GB" sz="1600" noProof="0"/>
              <a:t>• Final configuration: BO_014</a:t>
            </a:r>
          </a:p>
          <a:p>
            <a:r>
              <a:rPr lang="en-GB" sz="1600" noProof="0"/>
              <a:t>• 4 trained agents from the multiseed analysis</a:t>
            </a:r>
          </a:p>
          <a:p>
            <a:r>
              <a:rPr lang="en-GB" sz="1600" noProof="0"/>
              <a:t>• 4 agents × 100 episodes per scenario</a:t>
            </a:r>
          </a:p>
        </p:txBody>
      </p: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83418D01-28D5-4448-EE4D-45AA52B7A283}"/>
              </a:ext>
            </a:extLst>
          </p:cNvPr>
          <p:cNvGrpSpPr/>
          <p:nvPr/>
        </p:nvGrpSpPr>
        <p:grpSpPr>
          <a:xfrm>
            <a:off x="1488282" y="3763032"/>
            <a:ext cx="1515600" cy="1629332"/>
            <a:chOff x="1405891" y="3763032"/>
            <a:chExt cx="1515600" cy="1629332"/>
          </a:xfrm>
        </p:grpSpPr>
        <p:pic>
          <p:nvPicPr>
            <p:cNvPr id="15" name="Immagine 14">
              <a:extLst>
                <a:ext uri="{FF2B5EF4-FFF2-40B4-BE49-F238E27FC236}">
                  <a16:creationId xmlns:a16="http://schemas.microsoft.com/office/drawing/2014/main" id="{A8DDC184-ADC9-9FB2-B69D-3E606E882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3691" y="3763032"/>
              <a:ext cx="1260000" cy="1260000"/>
            </a:xfrm>
            <a:prstGeom prst="rect">
              <a:avLst/>
            </a:prstGeom>
          </p:spPr>
        </p:pic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ADCF43E9-3CB1-EFE2-8D82-99E8F8110743}"/>
                </a:ext>
              </a:extLst>
            </p:cNvPr>
            <p:cNvSpPr txBox="1"/>
            <p:nvPr/>
          </p:nvSpPr>
          <p:spPr>
            <a:xfrm>
              <a:off x="1405891" y="4899921"/>
              <a:ext cx="1515600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1600" b="1" noProof="0">
                  <a:solidFill>
                    <a:srgbClr val="102C53"/>
                  </a:solidFill>
                </a:rPr>
                <a:t>Treadmill </a:t>
              </a:r>
            </a:p>
            <a:p>
              <a:pPr algn="ctr"/>
              <a:r>
                <a:rPr lang="en-GB" sz="1600" b="1" noProof="0">
                  <a:solidFill>
                    <a:srgbClr val="102C53"/>
                  </a:solidFill>
                </a:rPr>
                <a:t>velocity</a:t>
              </a:r>
            </a:p>
          </p:txBody>
        </p:sp>
      </p:grpSp>
      <p:grpSp>
        <p:nvGrpSpPr>
          <p:cNvPr id="38" name="Gruppo 37">
            <a:extLst>
              <a:ext uri="{FF2B5EF4-FFF2-40B4-BE49-F238E27FC236}">
                <a16:creationId xmlns:a16="http://schemas.microsoft.com/office/drawing/2014/main" id="{080F9246-6387-A382-34A2-C78672ADA3C0}"/>
              </a:ext>
            </a:extLst>
          </p:cNvPr>
          <p:cNvGrpSpPr/>
          <p:nvPr/>
        </p:nvGrpSpPr>
        <p:grpSpPr>
          <a:xfrm>
            <a:off x="3411736" y="3763033"/>
            <a:ext cx="1517105" cy="1629331"/>
            <a:chOff x="3454058" y="3763032"/>
            <a:chExt cx="1517105" cy="1629331"/>
          </a:xfrm>
        </p:grpSpPr>
        <p:pic>
          <p:nvPicPr>
            <p:cNvPr id="17" name="Immagine 16">
              <a:extLst>
                <a:ext uri="{FF2B5EF4-FFF2-40B4-BE49-F238E27FC236}">
                  <a16:creationId xmlns:a16="http://schemas.microsoft.com/office/drawing/2014/main" id="{5D93E046-97D7-7394-67C2-492E9AECA9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2611" y="3763032"/>
              <a:ext cx="1260000" cy="1260000"/>
            </a:xfrm>
            <a:prstGeom prst="rect">
              <a:avLst/>
            </a:prstGeom>
          </p:spPr>
        </p:pic>
        <p:sp>
          <p:nvSpPr>
            <p:cNvPr id="30" name="CasellaDiTesto 29">
              <a:extLst>
                <a:ext uri="{FF2B5EF4-FFF2-40B4-BE49-F238E27FC236}">
                  <a16:creationId xmlns:a16="http://schemas.microsoft.com/office/drawing/2014/main" id="{1B4E99F2-34AC-0A7A-5B2D-C95788A4FF38}"/>
                </a:ext>
              </a:extLst>
            </p:cNvPr>
            <p:cNvSpPr txBox="1"/>
            <p:nvPr/>
          </p:nvSpPr>
          <p:spPr>
            <a:xfrm>
              <a:off x="3454058" y="4899920"/>
              <a:ext cx="1517105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1600" b="1" noProof="0">
                  <a:solidFill>
                    <a:srgbClr val="102C53"/>
                  </a:solidFill>
                </a:rPr>
                <a:t>Generation frequency</a:t>
              </a:r>
            </a:p>
          </p:txBody>
        </p:sp>
      </p:grp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16F9C9CB-137F-53C6-1FE6-1FEC257E3BE8}"/>
              </a:ext>
            </a:extLst>
          </p:cNvPr>
          <p:cNvGrpSpPr/>
          <p:nvPr/>
        </p:nvGrpSpPr>
        <p:grpSpPr>
          <a:xfrm>
            <a:off x="5336695" y="3763033"/>
            <a:ext cx="1517105" cy="1629330"/>
            <a:chOff x="5335239" y="3763032"/>
            <a:chExt cx="1517105" cy="1629330"/>
          </a:xfrm>
        </p:grpSpPr>
        <p:pic>
          <p:nvPicPr>
            <p:cNvPr id="19" name="Immagine 18">
              <a:extLst>
                <a:ext uri="{FF2B5EF4-FFF2-40B4-BE49-F238E27FC236}">
                  <a16:creationId xmlns:a16="http://schemas.microsoft.com/office/drawing/2014/main" id="{216DB15E-BC69-B1F1-671C-0696A822C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65999" y="3763032"/>
              <a:ext cx="1260000" cy="1260000"/>
            </a:xfrm>
            <a:prstGeom prst="rect">
              <a:avLst/>
            </a:prstGeom>
          </p:spPr>
        </p:pic>
        <p:sp>
          <p:nvSpPr>
            <p:cNvPr id="32" name="CasellaDiTesto 31">
              <a:extLst>
                <a:ext uri="{FF2B5EF4-FFF2-40B4-BE49-F238E27FC236}">
                  <a16:creationId xmlns:a16="http://schemas.microsoft.com/office/drawing/2014/main" id="{923D870A-20E1-4E6A-CBA3-4439017A2CE0}"/>
                </a:ext>
              </a:extLst>
            </p:cNvPr>
            <p:cNvSpPr txBox="1"/>
            <p:nvPr/>
          </p:nvSpPr>
          <p:spPr>
            <a:xfrm>
              <a:off x="5335239" y="4899919"/>
              <a:ext cx="1517105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1600" b="1" noProof="0">
                  <a:solidFill>
                    <a:srgbClr val="102C53"/>
                  </a:solidFill>
                </a:rPr>
                <a:t>Parcel </a:t>
              </a:r>
            </a:p>
            <a:p>
              <a:pPr algn="ctr"/>
              <a:r>
                <a:rPr lang="en-GB" sz="1600" b="1" noProof="0">
                  <a:solidFill>
                    <a:srgbClr val="102C53"/>
                  </a:solidFill>
                </a:rPr>
                <a:t>shape</a:t>
              </a:r>
            </a:p>
          </p:txBody>
        </p:sp>
      </p:grpSp>
      <p:grpSp>
        <p:nvGrpSpPr>
          <p:cNvPr id="36" name="Gruppo 35">
            <a:extLst>
              <a:ext uri="{FF2B5EF4-FFF2-40B4-BE49-F238E27FC236}">
                <a16:creationId xmlns:a16="http://schemas.microsoft.com/office/drawing/2014/main" id="{98551391-BC4B-1E7A-E76B-840B296F74C5}"/>
              </a:ext>
            </a:extLst>
          </p:cNvPr>
          <p:cNvGrpSpPr/>
          <p:nvPr/>
        </p:nvGrpSpPr>
        <p:grpSpPr>
          <a:xfrm>
            <a:off x="7261654" y="3763034"/>
            <a:ext cx="1517105" cy="1629329"/>
            <a:chOff x="7224742" y="3763032"/>
            <a:chExt cx="1517105" cy="1629329"/>
          </a:xfrm>
        </p:grpSpPr>
        <p:pic>
          <p:nvPicPr>
            <p:cNvPr id="22" name="Immagine 21">
              <a:extLst>
                <a:ext uri="{FF2B5EF4-FFF2-40B4-BE49-F238E27FC236}">
                  <a16:creationId xmlns:a16="http://schemas.microsoft.com/office/drawing/2014/main" id="{39616607-428D-2654-3205-7120F3B998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9386" y="3763032"/>
              <a:ext cx="1260000" cy="1260000"/>
            </a:xfrm>
            <a:prstGeom prst="rect">
              <a:avLst/>
            </a:prstGeom>
          </p:spPr>
        </p:pic>
        <p:sp>
          <p:nvSpPr>
            <p:cNvPr id="33" name="CasellaDiTesto 32">
              <a:extLst>
                <a:ext uri="{FF2B5EF4-FFF2-40B4-BE49-F238E27FC236}">
                  <a16:creationId xmlns:a16="http://schemas.microsoft.com/office/drawing/2014/main" id="{00AD9B32-1F55-25DA-CDAC-565C1E18136A}"/>
                </a:ext>
              </a:extLst>
            </p:cNvPr>
            <p:cNvSpPr txBox="1"/>
            <p:nvPr/>
          </p:nvSpPr>
          <p:spPr>
            <a:xfrm>
              <a:off x="7224742" y="4899918"/>
              <a:ext cx="1517105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1600" b="1" noProof="0">
                  <a:solidFill>
                    <a:srgbClr val="102C53"/>
                  </a:solidFill>
                </a:rPr>
                <a:t>Total parcels per episode</a:t>
              </a:r>
            </a:p>
          </p:txBody>
        </p:sp>
      </p:grp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169772C1-9DEF-EAE7-9E3E-C34F1CDD5E11}"/>
              </a:ext>
            </a:extLst>
          </p:cNvPr>
          <p:cNvGrpSpPr/>
          <p:nvPr/>
        </p:nvGrpSpPr>
        <p:grpSpPr>
          <a:xfrm>
            <a:off x="9186613" y="3763034"/>
            <a:ext cx="1517105" cy="1629328"/>
            <a:chOff x="9104222" y="3763032"/>
            <a:chExt cx="1517105" cy="1629328"/>
          </a:xfrm>
        </p:grpSpPr>
        <p:pic>
          <p:nvPicPr>
            <p:cNvPr id="24" name="Immagine 23">
              <a:extLst>
                <a:ext uri="{FF2B5EF4-FFF2-40B4-BE49-F238E27FC236}">
                  <a16:creationId xmlns:a16="http://schemas.microsoft.com/office/drawing/2014/main" id="{3D7EFA3F-6EC3-933A-7FC4-FC7495B14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32775" y="3763032"/>
              <a:ext cx="1260000" cy="1260000"/>
            </a:xfrm>
            <a:prstGeom prst="rect">
              <a:avLst/>
            </a:prstGeom>
          </p:spPr>
        </p:pic>
        <p:sp>
          <p:nvSpPr>
            <p:cNvPr id="34" name="CasellaDiTesto 33">
              <a:extLst>
                <a:ext uri="{FF2B5EF4-FFF2-40B4-BE49-F238E27FC236}">
                  <a16:creationId xmlns:a16="http://schemas.microsoft.com/office/drawing/2014/main" id="{99F4074E-583F-9CCE-539F-945A84A53DF0}"/>
                </a:ext>
              </a:extLst>
            </p:cNvPr>
            <p:cNvSpPr txBox="1"/>
            <p:nvPr/>
          </p:nvSpPr>
          <p:spPr>
            <a:xfrm>
              <a:off x="9104222" y="4899917"/>
              <a:ext cx="1517105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1600" b="1" noProof="0">
                  <a:solidFill>
                    <a:srgbClr val="102C53"/>
                  </a:solidFill>
                </a:rPr>
                <a:t>Parcels per generation</a:t>
              </a:r>
            </a:p>
          </p:txBody>
        </p:sp>
      </p:grp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766E0DB1-B713-15BA-A2DC-59ED848602AD}"/>
              </a:ext>
            </a:extLst>
          </p:cNvPr>
          <p:cNvSpPr txBox="1"/>
          <p:nvPr/>
        </p:nvSpPr>
        <p:spPr>
          <a:xfrm>
            <a:off x="1473435" y="6212701"/>
            <a:ext cx="924513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noProof="0"/>
              <a:t>The goal is to distinguish </a:t>
            </a:r>
            <a:r>
              <a:rPr lang="en-GB" b="1" noProof="0"/>
              <a:t>robust</a:t>
            </a:r>
            <a:r>
              <a:rPr lang="en-GB" noProof="0"/>
              <a:t> generalization from actual </a:t>
            </a:r>
            <a:r>
              <a:rPr lang="en-GB" b="1" noProof="0"/>
              <a:t>operating</a:t>
            </a:r>
            <a:r>
              <a:rPr lang="en-GB" noProof="0"/>
              <a:t> </a:t>
            </a:r>
            <a:r>
              <a:rPr lang="en-GB" b="1" noProof="0"/>
              <a:t>limitations</a:t>
            </a:r>
            <a:r>
              <a:rPr lang="en-GB" noProof="0"/>
              <a:t>.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7D8A2B1F-8AED-E31F-826B-8FA47C2626A7}"/>
              </a:ext>
            </a:extLst>
          </p:cNvPr>
          <p:cNvSpPr txBox="1"/>
          <p:nvPr/>
        </p:nvSpPr>
        <p:spPr>
          <a:xfrm>
            <a:off x="6264563" y="2308029"/>
            <a:ext cx="55903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600" noProof="0"/>
          </a:p>
          <a:p>
            <a:r>
              <a:rPr lang="en-GB" sz="1600" noProof="0"/>
              <a:t>• Evaluation seed base: 2044876</a:t>
            </a:r>
          </a:p>
          <a:p>
            <a:r>
              <a:rPr lang="en-GB" sz="1600" noProof="0"/>
              <a:t>• No retraining</a:t>
            </a:r>
          </a:p>
          <a:p>
            <a:r>
              <a:rPr lang="en-GB" sz="1600" noProof="0"/>
              <a:t>• No reward, no PPO changes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03FEA4F-8281-4E02-3C51-FC7011FC986B}"/>
              </a:ext>
            </a:extLst>
          </p:cNvPr>
          <p:cNvSpPr txBox="1"/>
          <p:nvPr/>
        </p:nvSpPr>
        <p:spPr>
          <a:xfrm>
            <a:off x="3566160" y="2060575"/>
            <a:ext cx="5059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noProof="0"/>
              <a:t>Evaluation-only stress campaign</a:t>
            </a:r>
          </a:p>
        </p:txBody>
      </p:sp>
    </p:spTree>
    <p:extLst>
      <p:ext uri="{BB962C8B-B14F-4D97-AF65-F5344CB8AC3E}">
        <p14:creationId xmlns:p14="http://schemas.microsoft.com/office/powerpoint/2010/main" val="842842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CF12D0-E56A-FD9C-209D-3FF587554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761" y="808073"/>
            <a:ext cx="5761036" cy="749265"/>
          </a:xfrm>
        </p:spPr>
        <p:txBody>
          <a:bodyPr/>
          <a:lstStyle/>
          <a:p>
            <a:r>
              <a:rPr lang="en-GB" sz="2400" noProof="0"/>
              <a:t>Reduced treadmill velocity caused moderate degradation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5717E68-5ACE-609D-AC1C-07B9891D0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/>
              <a:t>15/07/2026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9F6973D-8E61-723C-8B7E-53F909904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PPO-Based Control of an Active Motion Surface for Parcel Singulation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D5C5AE4-F6E7-2103-79AA-5F3FD9B95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GB" noProof="0" smtClean="0"/>
              <a:pPr/>
              <a:t>11</a:t>
            </a:fld>
            <a:endParaRPr lang="en-GB" noProof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1EAEACFB-1FFE-43B3-CD4A-324A919C08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548957"/>
            <a:ext cx="1260000" cy="1260000"/>
          </a:xfrm>
          <a:prstGeom prst="rect">
            <a:avLst/>
          </a:prstGeom>
        </p:spPr>
      </p:pic>
      <p:pic>
        <p:nvPicPr>
          <p:cNvPr id="9" name="05_treadmill_1p60_seed1_ep1_acc100.00">
            <a:hlinkClick r:id="" action="ppaction://media"/>
            <a:extLst>
              <a:ext uri="{FF2B5EF4-FFF2-40B4-BE49-F238E27FC236}">
                <a16:creationId xmlns:a16="http://schemas.microsoft.com/office/drawing/2014/main" id="{CE350F1B-8283-24CF-6614-EEA67B9E98A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26515" r="18206"/>
          <a:stretch>
            <a:fillRect/>
          </a:stretch>
        </p:blipFill>
        <p:spPr>
          <a:xfrm>
            <a:off x="6135977" y="1676762"/>
            <a:ext cx="2900074" cy="4425654"/>
          </a:xfrm>
          <a:prstGeom prst="rect">
            <a:avLst/>
          </a:prstGeom>
        </p:spPr>
      </p:pic>
      <p:pic>
        <p:nvPicPr>
          <p:cNvPr id="10" name="06_treadmill_1p30_seed1_ep94_acc88.89">
            <a:hlinkClick r:id="" action="ppaction://media"/>
            <a:extLst>
              <a:ext uri="{FF2B5EF4-FFF2-40B4-BE49-F238E27FC236}">
                <a16:creationId xmlns:a16="http://schemas.microsoft.com/office/drawing/2014/main" id="{CEB82194-463D-F0E6-A2FC-8EDAB8C0C14A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rcRect l="25674" r="19047"/>
          <a:stretch>
            <a:fillRect/>
          </a:stretch>
        </p:blipFill>
        <p:spPr>
          <a:xfrm>
            <a:off x="9211903" y="1676762"/>
            <a:ext cx="2900074" cy="4425654"/>
          </a:xfrm>
          <a:prstGeom prst="rect">
            <a:avLst/>
          </a:prstGeom>
        </p:spPr>
      </p:pic>
      <p:sp>
        <p:nvSpPr>
          <p:cNvPr id="16" name="Segnaposto testo 9">
            <a:extLst>
              <a:ext uri="{FF2B5EF4-FFF2-40B4-BE49-F238E27FC236}">
                <a16:creationId xmlns:a16="http://schemas.microsoft.com/office/drawing/2014/main" id="{6881B091-AEE3-6B59-45A1-9A8132009071}"/>
              </a:ext>
            </a:extLst>
          </p:cNvPr>
          <p:cNvSpPr txBox="1">
            <a:spLocks/>
          </p:cNvSpPr>
          <p:nvPr/>
        </p:nvSpPr>
        <p:spPr>
          <a:xfrm>
            <a:off x="9660026" y="1430766"/>
            <a:ext cx="1728000" cy="28257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noProof="0"/>
              <a:t>Treadmill velocity = </a:t>
            </a:r>
            <a:r>
              <a:rPr lang="en-GB" sz="900" b="1" noProof="0"/>
              <a:t>1,30 m/s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B7343FD-4784-BA85-6457-FE50EBF44401}"/>
              </a:ext>
            </a:extLst>
          </p:cNvPr>
          <p:cNvSpPr txBox="1"/>
          <p:nvPr/>
        </p:nvSpPr>
        <p:spPr>
          <a:xfrm>
            <a:off x="334964" y="1713341"/>
            <a:ext cx="4943618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noProof="0">
                <a:solidFill>
                  <a:srgbClr val="586D8D"/>
                </a:solidFill>
              </a:rPr>
              <a:t>Nominal case</a:t>
            </a:r>
          </a:p>
          <a:p>
            <a:r>
              <a:rPr lang="en-GB" sz="1600" noProof="0"/>
              <a:t>Mean Final Accuracy&gt;5mm: 	98,28%</a:t>
            </a:r>
          </a:p>
          <a:p>
            <a:r>
              <a:rPr lang="en-GB" sz="1600" noProof="0"/>
              <a:t>Worst Agent Accuracy:	96,33%</a:t>
            </a:r>
          </a:p>
          <a:p>
            <a:r>
              <a:rPr lang="en-GB" sz="1600" noProof="0"/>
              <a:t>Mean Max Overlap:		9,9 mm</a:t>
            </a:r>
          </a:p>
          <a:p>
            <a:r>
              <a:rPr lang="en-GB" sz="1600" noProof="0"/>
              <a:t>Throughput:		8027 </a:t>
            </a:r>
            <a:r>
              <a:rPr lang="en-GB" sz="1600" noProof="0" err="1"/>
              <a:t>pph</a:t>
            </a:r>
            <a:endParaRPr lang="en-GB" sz="1600" noProof="0"/>
          </a:p>
          <a:p>
            <a:endParaRPr lang="en-GB" sz="1600" noProof="0"/>
          </a:p>
          <a:p>
            <a:r>
              <a:rPr lang="en-GB" sz="1600" b="1" noProof="0"/>
              <a:t>Treadmill-1p60</a:t>
            </a:r>
          </a:p>
          <a:p>
            <a:r>
              <a:rPr lang="en-GB" sz="1600" noProof="0"/>
              <a:t>Mean Final Accuracy&gt;5mm: 	96,86%	</a:t>
            </a:r>
            <a:r>
              <a:rPr lang="en-GB" sz="1600" b="1" noProof="0">
                <a:solidFill>
                  <a:srgbClr val="D55E00"/>
                </a:solidFill>
              </a:rPr>
              <a:t>-1,42 pp</a:t>
            </a:r>
          </a:p>
          <a:p>
            <a:r>
              <a:rPr lang="en-GB" sz="1600" noProof="0"/>
              <a:t>Worst Agent Accuracy:	93,67%	</a:t>
            </a:r>
            <a:r>
              <a:rPr lang="en-GB" sz="1600" b="1" noProof="0">
                <a:solidFill>
                  <a:srgbClr val="D55E00"/>
                </a:solidFill>
              </a:rPr>
              <a:t>-2,66 pp</a:t>
            </a:r>
          </a:p>
          <a:p>
            <a:r>
              <a:rPr lang="en-GB" sz="1600" noProof="0"/>
              <a:t>Mean Max Overlap:		14,1 mm	</a:t>
            </a:r>
            <a:r>
              <a:rPr lang="en-GB" sz="1600" b="1" noProof="0">
                <a:solidFill>
                  <a:srgbClr val="D55E00"/>
                </a:solidFill>
              </a:rPr>
              <a:t>+4,2 mm</a:t>
            </a:r>
          </a:p>
          <a:p>
            <a:r>
              <a:rPr lang="en-GB" sz="1600" noProof="0"/>
              <a:t>Throughput:		7874 </a:t>
            </a:r>
            <a:r>
              <a:rPr lang="en-GB" sz="1600" noProof="0" err="1"/>
              <a:t>pph</a:t>
            </a:r>
            <a:r>
              <a:rPr lang="en-GB" sz="1600" noProof="0"/>
              <a:t>	</a:t>
            </a:r>
            <a:r>
              <a:rPr lang="en-GB" sz="1600" b="1" noProof="0">
                <a:solidFill>
                  <a:srgbClr val="D55E00"/>
                </a:solidFill>
              </a:rPr>
              <a:t>-153 </a:t>
            </a:r>
            <a:r>
              <a:rPr lang="en-GB" sz="1600" b="1" noProof="0" err="1">
                <a:solidFill>
                  <a:srgbClr val="D55E00"/>
                </a:solidFill>
              </a:rPr>
              <a:t>pph</a:t>
            </a:r>
            <a:endParaRPr lang="en-GB" sz="1600" b="1" noProof="0">
              <a:solidFill>
                <a:srgbClr val="D55E00"/>
              </a:solidFill>
            </a:endParaRPr>
          </a:p>
          <a:p>
            <a:endParaRPr lang="en-GB" sz="1600" noProof="0"/>
          </a:p>
          <a:p>
            <a:r>
              <a:rPr lang="en-GB" sz="1600" b="1" noProof="0"/>
              <a:t>Treadmill-1p30</a:t>
            </a:r>
          </a:p>
          <a:p>
            <a:r>
              <a:rPr lang="en-GB" sz="1600" noProof="0"/>
              <a:t>Mean Final Accuracy&gt;5mm: 	94,36%	</a:t>
            </a:r>
            <a:r>
              <a:rPr lang="en-GB" sz="1600" b="1" noProof="0">
                <a:solidFill>
                  <a:srgbClr val="D55E00"/>
                </a:solidFill>
              </a:rPr>
              <a:t>-3,92 pp</a:t>
            </a:r>
          </a:p>
          <a:p>
            <a:r>
              <a:rPr lang="en-GB" sz="1600" noProof="0"/>
              <a:t>Worst Agent Accuracy:	88,00%	</a:t>
            </a:r>
            <a:r>
              <a:rPr lang="en-GB" sz="1600" b="1" noProof="0">
                <a:solidFill>
                  <a:srgbClr val="D55E00"/>
                </a:solidFill>
              </a:rPr>
              <a:t>-8,33 pp</a:t>
            </a:r>
          </a:p>
          <a:p>
            <a:r>
              <a:rPr lang="en-GB" sz="1600" noProof="0"/>
              <a:t>Mean Max Overlap:		24,1 mm	</a:t>
            </a:r>
            <a:r>
              <a:rPr lang="en-GB" sz="1600" b="1" noProof="0">
                <a:solidFill>
                  <a:srgbClr val="D55E00"/>
                </a:solidFill>
              </a:rPr>
              <a:t>+14,2 mm</a:t>
            </a:r>
          </a:p>
          <a:p>
            <a:r>
              <a:rPr lang="en-GB" sz="1600" noProof="0"/>
              <a:t>Throughput:		7662 </a:t>
            </a:r>
            <a:r>
              <a:rPr lang="en-GB" sz="1600" noProof="0" err="1"/>
              <a:t>pph</a:t>
            </a:r>
            <a:r>
              <a:rPr lang="en-GB" sz="1600" noProof="0"/>
              <a:t>	</a:t>
            </a:r>
            <a:r>
              <a:rPr lang="en-GB" sz="1600" b="1" noProof="0">
                <a:solidFill>
                  <a:srgbClr val="D55E00"/>
                </a:solidFill>
              </a:rPr>
              <a:t>-365 </a:t>
            </a:r>
            <a:r>
              <a:rPr lang="en-GB" sz="1600" b="1" noProof="0" err="1">
                <a:solidFill>
                  <a:srgbClr val="D55E00"/>
                </a:solidFill>
              </a:rPr>
              <a:t>pph</a:t>
            </a:r>
            <a:endParaRPr lang="en-GB" sz="1600" b="1" noProof="0">
              <a:solidFill>
                <a:srgbClr val="D55E00"/>
              </a:solidFill>
            </a:endParaRPr>
          </a:p>
        </p:txBody>
      </p:sp>
      <p:sp>
        <p:nvSpPr>
          <p:cNvPr id="7" name="Segnaposto testo 9">
            <a:extLst>
              <a:ext uri="{FF2B5EF4-FFF2-40B4-BE49-F238E27FC236}">
                <a16:creationId xmlns:a16="http://schemas.microsoft.com/office/drawing/2014/main" id="{16796B3D-E7CB-3CCB-3184-86580D236347}"/>
              </a:ext>
            </a:extLst>
          </p:cNvPr>
          <p:cNvSpPr txBox="1">
            <a:spLocks/>
          </p:cNvSpPr>
          <p:nvPr/>
        </p:nvSpPr>
        <p:spPr>
          <a:xfrm>
            <a:off x="6539797" y="1430766"/>
            <a:ext cx="1728000" cy="28257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noProof="0"/>
              <a:t>Treadmill velocity = </a:t>
            </a:r>
            <a:r>
              <a:rPr lang="en-GB" sz="900" b="1" noProof="0"/>
              <a:t>1,60 m/s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B61A85E-0A3A-5801-B944-9DD68061969A}"/>
              </a:ext>
            </a:extLst>
          </p:cNvPr>
          <p:cNvSpPr txBox="1"/>
          <p:nvPr/>
        </p:nvSpPr>
        <p:spPr>
          <a:xfrm>
            <a:off x="334963" y="6244936"/>
            <a:ext cx="11522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noProof="0"/>
              <a:t>Reduced</a:t>
            </a:r>
            <a:r>
              <a:rPr lang="en-GB" sz="1600" noProof="0"/>
              <a:t> </a:t>
            </a:r>
            <a:r>
              <a:rPr lang="en-GB" sz="1600" b="1" noProof="0"/>
              <a:t>downstream</a:t>
            </a:r>
            <a:r>
              <a:rPr lang="en-GB" sz="1600" noProof="0"/>
              <a:t> </a:t>
            </a:r>
            <a:r>
              <a:rPr lang="en-GB" sz="1600" b="1" noProof="0"/>
              <a:t>speed</a:t>
            </a:r>
            <a:r>
              <a:rPr lang="en-GB" sz="1600" noProof="0"/>
              <a:t> degrades separation quality, but it is not the most critical operating limitation.</a:t>
            </a:r>
          </a:p>
        </p:txBody>
      </p:sp>
    </p:spTree>
    <p:extLst>
      <p:ext uri="{BB962C8B-B14F-4D97-AF65-F5344CB8AC3E}">
        <p14:creationId xmlns:p14="http://schemas.microsoft.com/office/powerpoint/2010/main" val="888312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875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1875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2125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03_generation_0p60_seed1_ep15_acc88.89">
            <a:hlinkClick r:id="" action="ppaction://media"/>
            <a:extLst>
              <a:ext uri="{FF2B5EF4-FFF2-40B4-BE49-F238E27FC236}">
                <a16:creationId xmlns:a16="http://schemas.microsoft.com/office/drawing/2014/main" id="{B0DE76FD-5661-FCA6-94B5-D7475EC8352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24300" r="19558"/>
          <a:stretch>
            <a:fillRect/>
          </a:stretch>
        </p:blipFill>
        <p:spPr>
          <a:xfrm>
            <a:off x="6134451" y="1674608"/>
            <a:ext cx="2901600" cy="4359866"/>
          </a:xfrm>
          <a:prstGeom prst="rect">
            <a:avLst/>
          </a:prstGeom>
        </p:spPr>
      </p:pic>
      <p:pic>
        <p:nvPicPr>
          <p:cNvPr id="15" name="04_generation_0p50_seed1_ep22_acc88.89">
            <a:hlinkClick r:id="" action="ppaction://media"/>
            <a:extLst>
              <a:ext uri="{FF2B5EF4-FFF2-40B4-BE49-F238E27FC236}">
                <a16:creationId xmlns:a16="http://schemas.microsoft.com/office/drawing/2014/main" id="{77FF99E3-AF49-8E2B-5C49-2945774771BB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rcRect l="24373" r="19485"/>
          <a:stretch>
            <a:fillRect/>
          </a:stretch>
        </p:blipFill>
        <p:spPr>
          <a:xfrm>
            <a:off x="9210377" y="1674608"/>
            <a:ext cx="2901600" cy="4359866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AB50A21C-34BD-0AC4-473B-A38926AB83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28" y="548957"/>
            <a:ext cx="1260000" cy="1260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CCF12D0-E56A-FD9C-209D-3FF587554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761" y="808073"/>
            <a:ext cx="5761036" cy="749265"/>
          </a:xfrm>
        </p:spPr>
        <p:txBody>
          <a:bodyPr/>
          <a:lstStyle/>
          <a:p>
            <a:r>
              <a:rPr lang="en-GB" sz="2400" noProof="0"/>
              <a:t>Higher generation frequency revealed a temporal inflow limit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5717E68-5ACE-609D-AC1C-07B9891D0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/>
              <a:t>15/07/2026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9F6973D-8E61-723C-8B7E-53F909904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PPO-Based Control of an Active Motion Surface for Parcel Singulation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D5C5AE4-F6E7-2103-79AA-5F3FD9B95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GB" noProof="0" smtClean="0"/>
              <a:pPr/>
              <a:t>12</a:t>
            </a:fld>
            <a:endParaRPr lang="en-GB" noProof="0"/>
          </a:p>
        </p:txBody>
      </p:sp>
      <p:sp>
        <p:nvSpPr>
          <p:cNvPr id="16" name="Segnaposto testo 9">
            <a:extLst>
              <a:ext uri="{FF2B5EF4-FFF2-40B4-BE49-F238E27FC236}">
                <a16:creationId xmlns:a16="http://schemas.microsoft.com/office/drawing/2014/main" id="{6881B091-AEE3-6B59-45A1-9A8132009071}"/>
              </a:ext>
            </a:extLst>
          </p:cNvPr>
          <p:cNvSpPr txBox="1">
            <a:spLocks/>
          </p:cNvSpPr>
          <p:nvPr/>
        </p:nvSpPr>
        <p:spPr>
          <a:xfrm>
            <a:off x="9684383" y="1430766"/>
            <a:ext cx="1836000" cy="28257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noProof="0"/>
              <a:t>Generation frequency = </a:t>
            </a:r>
            <a:r>
              <a:rPr lang="en-GB" sz="900" b="1" noProof="0"/>
              <a:t>0,50 s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B7343FD-4784-BA85-6457-FE50EBF44401}"/>
              </a:ext>
            </a:extLst>
          </p:cNvPr>
          <p:cNvSpPr txBox="1"/>
          <p:nvPr/>
        </p:nvSpPr>
        <p:spPr>
          <a:xfrm>
            <a:off x="334963" y="1713341"/>
            <a:ext cx="5260728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noProof="0">
                <a:solidFill>
                  <a:srgbClr val="586D8D"/>
                </a:solidFill>
              </a:rPr>
              <a:t>Nominal case</a:t>
            </a:r>
          </a:p>
          <a:p>
            <a:r>
              <a:rPr lang="en-GB" sz="1600" noProof="0"/>
              <a:t>Mean Final Accuracy&gt;5mm: 	98,28%</a:t>
            </a:r>
          </a:p>
          <a:p>
            <a:r>
              <a:rPr lang="en-GB" sz="1600" noProof="0"/>
              <a:t>Worst Agent Accuracy:	96,33%</a:t>
            </a:r>
          </a:p>
          <a:p>
            <a:r>
              <a:rPr lang="en-GB" sz="1600" noProof="0"/>
              <a:t>Mean Max Overlap:		9,9 mm</a:t>
            </a:r>
          </a:p>
          <a:p>
            <a:r>
              <a:rPr lang="en-GB" sz="1600" noProof="0"/>
              <a:t>Throughput:		8027 </a:t>
            </a:r>
            <a:r>
              <a:rPr lang="en-GB" sz="1600" noProof="0" err="1"/>
              <a:t>pph</a:t>
            </a:r>
            <a:endParaRPr lang="en-GB" sz="1600" noProof="0"/>
          </a:p>
          <a:p>
            <a:endParaRPr lang="en-GB" sz="1600" noProof="0"/>
          </a:p>
          <a:p>
            <a:r>
              <a:rPr lang="en-GB" sz="1600" b="1" noProof="0"/>
              <a:t>Generation-0p60</a:t>
            </a:r>
          </a:p>
          <a:p>
            <a:r>
              <a:rPr lang="en-GB" sz="1600" noProof="0"/>
              <a:t>Mean Final Accuracy&gt;5mm: 	92,36%	  </a:t>
            </a:r>
            <a:r>
              <a:rPr lang="en-GB" sz="1600" b="1" noProof="0">
                <a:solidFill>
                  <a:srgbClr val="D55E00"/>
                </a:solidFill>
              </a:rPr>
              <a:t>-5,92  pp</a:t>
            </a:r>
          </a:p>
          <a:p>
            <a:r>
              <a:rPr lang="en-GB" sz="1600" noProof="0"/>
              <a:t>Worst Agent Accuracy:	90,89%	  </a:t>
            </a:r>
            <a:r>
              <a:rPr lang="en-GB" sz="1600" b="1" noProof="0">
                <a:solidFill>
                  <a:srgbClr val="D55E00"/>
                </a:solidFill>
              </a:rPr>
              <a:t>-5,44  pp</a:t>
            </a:r>
          </a:p>
          <a:p>
            <a:r>
              <a:rPr lang="en-GB" sz="1600" noProof="0"/>
              <a:t>Mean Max Overlap:		57,9 mm	  </a:t>
            </a:r>
            <a:r>
              <a:rPr lang="en-GB" sz="1600" b="1" noProof="0">
                <a:solidFill>
                  <a:srgbClr val="D55E00"/>
                </a:solidFill>
              </a:rPr>
              <a:t>+48,0 mm</a:t>
            </a:r>
          </a:p>
          <a:p>
            <a:r>
              <a:rPr lang="en-GB" sz="1600" noProof="0"/>
              <a:t>Throughput:		9243 </a:t>
            </a:r>
            <a:r>
              <a:rPr lang="en-GB" sz="1600" noProof="0" err="1"/>
              <a:t>pph</a:t>
            </a:r>
            <a:r>
              <a:rPr lang="en-GB" sz="1600" noProof="0"/>
              <a:t>	  </a:t>
            </a:r>
            <a:r>
              <a:rPr lang="en-GB" sz="1600" b="1" noProof="0">
                <a:solidFill>
                  <a:srgbClr val="009E73"/>
                </a:solidFill>
              </a:rPr>
              <a:t>+1216  </a:t>
            </a:r>
            <a:r>
              <a:rPr lang="en-GB" sz="1600" b="1" noProof="0" err="1">
                <a:solidFill>
                  <a:srgbClr val="009E73"/>
                </a:solidFill>
              </a:rPr>
              <a:t>pph</a:t>
            </a:r>
            <a:endParaRPr lang="en-GB" sz="1600" b="1" noProof="0">
              <a:solidFill>
                <a:srgbClr val="009E73"/>
              </a:solidFill>
            </a:endParaRPr>
          </a:p>
          <a:p>
            <a:endParaRPr lang="en-GB" sz="1600" noProof="0"/>
          </a:p>
          <a:p>
            <a:r>
              <a:rPr lang="en-GB" sz="1600" b="1" noProof="0"/>
              <a:t>Generation-0p50</a:t>
            </a:r>
          </a:p>
          <a:p>
            <a:r>
              <a:rPr lang="en-GB" sz="1600" noProof="0"/>
              <a:t>Mean Final Accuracy&gt;5mm: 	85,22%	  </a:t>
            </a:r>
            <a:r>
              <a:rPr lang="en-GB" sz="1600" b="1" noProof="0">
                <a:solidFill>
                  <a:srgbClr val="D55E00"/>
                </a:solidFill>
              </a:rPr>
              <a:t>-13,06  pp</a:t>
            </a:r>
          </a:p>
          <a:p>
            <a:r>
              <a:rPr lang="en-GB" sz="1600" noProof="0"/>
              <a:t>Worst Agent Accuracy:	77,67%	  </a:t>
            </a:r>
            <a:r>
              <a:rPr lang="en-GB" sz="1600" b="1" noProof="0">
                <a:solidFill>
                  <a:srgbClr val="D55E00"/>
                </a:solidFill>
              </a:rPr>
              <a:t>-18,66  pp</a:t>
            </a:r>
          </a:p>
          <a:p>
            <a:r>
              <a:rPr lang="en-GB" sz="1600" noProof="0"/>
              <a:t>Mean Max Overlap:		112,9 mm	  </a:t>
            </a:r>
            <a:r>
              <a:rPr lang="en-GB" sz="1600" b="1" noProof="0">
                <a:solidFill>
                  <a:srgbClr val="D55E00"/>
                </a:solidFill>
              </a:rPr>
              <a:t>+103,0 mm</a:t>
            </a:r>
          </a:p>
          <a:p>
            <a:r>
              <a:rPr lang="en-GB" sz="1600" noProof="0"/>
              <a:t>Throughput:		10360 </a:t>
            </a:r>
            <a:r>
              <a:rPr lang="en-GB" sz="1600" noProof="0" err="1"/>
              <a:t>pph</a:t>
            </a:r>
            <a:r>
              <a:rPr lang="en-GB" sz="1600" noProof="0"/>
              <a:t> </a:t>
            </a:r>
            <a:r>
              <a:rPr lang="en-GB" sz="1600" b="1" noProof="0">
                <a:solidFill>
                  <a:srgbClr val="009E73"/>
                </a:solidFill>
              </a:rPr>
              <a:t>+2333  </a:t>
            </a:r>
            <a:r>
              <a:rPr lang="en-GB" sz="1600" b="1" noProof="0" err="1">
                <a:solidFill>
                  <a:srgbClr val="009E73"/>
                </a:solidFill>
              </a:rPr>
              <a:t>pph</a:t>
            </a:r>
            <a:endParaRPr lang="en-GB" sz="1600" b="1" noProof="0">
              <a:solidFill>
                <a:srgbClr val="009E73"/>
              </a:solidFill>
            </a:endParaRPr>
          </a:p>
        </p:txBody>
      </p:sp>
      <p:sp>
        <p:nvSpPr>
          <p:cNvPr id="7" name="Segnaposto testo 9">
            <a:extLst>
              <a:ext uri="{FF2B5EF4-FFF2-40B4-BE49-F238E27FC236}">
                <a16:creationId xmlns:a16="http://schemas.microsoft.com/office/drawing/2014/main" id="{16796B3D-E7CB-3CCB-3184-86580D236347}"/>
              </a:ext>
            </a:extLst>
          </p:cNvPr>
          <p:cNvSpPr txBox="1">
            <a:spLocks/>
          </p:cNvSpPr>
          <p:nvPr/>
        </p:nvSpPr>
        <p:spPr>
          <a:xfrm>
            <a:off x="6604420" y="1430766"/>
            <a:ext cx="1836000" cy="28257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noProof="0"/>
              <a:t>Generation frequency = </a:t>
            </a:r>
            <a:r>
              <a:rPr lang="en-GB" sz="900" b="1" noProof="0"/>
              <a:t>0,60 s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B61A85E-0A3A-5801-B944-9DD68061969A}"/>
              </a:ext>
            </a:extLst>
          </p:cNvPr>
          <p:cNvSpPr txBox="1"/>
          <p:nvPr/>
        </p:nvSpPr>
        <p:spPr>
          <a:xfrm>
            <a:off x="334963" y="6244936"/>
            <a:ext cx="11522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noProof="0"/>
              <a:t>The policy degrades when parcels enter the AMS </a:t>
            </a:r>
            <a:r>
              <a:rPr lang="en-GB" sz="1600" b="1" noProof="0"/>
              <a:t>too frequently</a:t>
            </a:r>
            <a:r>
              <a:rPr lang="en-GB" sz="1600" noProof="0"/>
              <a:t>, leaving less time to </a:t>
            </a:r>
            <a:r>
              <a:rPr lang="en-GB" sz="1600" b="1" noProof="0"/>
              <a:t>recover</a:t>
            </a:r>
            <a:r>
              <a:rPr lang="en-GB" sz="1600" noProof="0"/>
              <a:t> </a:t>
            </a:r>
            <a:r>
              <a:rPr lang="en-GB" sz="1600" b="1" noProof="0"/>
              <a:t>longitudinal</a:t>
            </a:r>
            <a:r>
              <a:rPr lang="en-GB" sz="1600" noProof="0"/>
              <a:t> </a:t>
            </a:r>
            <a:r>
              <a:rPr lang="en-GB" sz="1600" b="1" noProof="0"/>
              <a:t>separation</a:t>
            </a:r>
            <a:r>
              <a:rPr lang="en-GB" sz="1600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5627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50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25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925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 vol="80000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magine 17">
            <a:extLst>
              <a:ext uri="{FF2B5EF4-FFF2-40B4-BE49-F238E27FC236}">
                <a16:creationId xmlns:a16="http://schemas.microsoft.com/office/drawing/2014/main" id="{2FE9ECAB-8783-5718-A112-C729C49187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10" y="548957"/>
            <a:ext cx="1260000" cy="1260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CCF12D0-E56A-FD9C-209D-3FF587554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761" y="808073"/>
            <a:ext cx="5761036" cy="749265"/>
          </a:xfrm>
        </p:spPr>
        <p:txBody>
          <a:bodyPr/>
          <a:lstStyle/>
          <a:p>
            <a:r>
              <a:rPr lang="en-GB" sz="2400" noProof="0"/>
              <a:t>BO_014 generalized well to rectangular parcel shapes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5717E68-5ACE-609D-AC1C-07B9891D0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/>
              <a:t>15/07/2026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9F6973D-8E61-723C-8B7E-53F909904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PPO-Based Control of an Active Motion Surface for Parcel Singulation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D5C5AE4-F6E7-2103-79AA-5F3FD9B95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GB" noProof="0" smtClean="0"/>
              <a:pPr/>
              <a:t>13</a:t>
            </a:fld>
            <a:endParaRPr lang="en-GB" noProof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B7343FD-4784-BA85-6457-FE50EBF44401}"/>
              </a:ext>
            </a:extLst>
          </p:cNvPr>
          <p:cNvSpPr txBox="1"/>
          <p:nvPr/>
        </p:nvSpPr>
        <p:spPr>
          <a:xfrm>
            <a:off x="334963" y="2070966"/>
            <a:ext cx="576103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noProof="0">
                <a:solidFill>
                  <a:srgbClr val="586D8D"/>
                </a:solidFill>
              </a:rPr>
              <a:t>Nominal case</a:t>
            </a:r>
          </a:p>
          <a:p>
            <a:r>
              <a:rPr lang="en-GB" sz="1600" noProof="0"/>
              <a:t>Mean Final Accuracy&gt;5mm: 	98,28%</a:t>
            </a:r>
          </a:p>
          <a:p>
            <a:r>
              <a:rPr lang="en-GB" sz="1600" noProof="0"/>
              <a:t>Worst Agent Accuracy:	96,33%</a:t>
            </a:r>
          </a:p>
          <a:p>
            <a:r>
              <a:rPr lang="en-GB" sz="1600" noProof="0"/>
              <a:t>Mean Max Overlap:		9,9 mm</a:t>
            </a:r>
          </a:p>
          <a:p>
            <a:r>
              <a:rPr lang="en-GB" sz="1600" noProof="0"/>
              <a:t>Throughput:		8027 </a:t>
            </a:r>
            <a:r>
              <a:rPr lang="en-GB" sz="1600" noProof="0" err="1"/>
              <a:t>pph</a:t>
            </a:r>
            <a:endParaRPr lang="en-GB" sz="1600" noProof="0"/>
          </a:p>
          <a:p>
            <a:endParaRPr lang="en-GB" sz="1600" noProof="0"/>
          </a:p>
          <a:p>
            <a:r>
              <a:rPr lang="en-GB" sz="1600" b="1" noProof="0"/>
              <a:t>Rectangular parcels</a:t>
            </a:r>
          </a:p>
          <a:p>
            <a:r>
              <a:rPr lang="en-GB" sz="1600" noProof="0"/>
              <a:t>Mean Final Accuracy&gt;5mm: 	97,42%	 </a:t>
            </a:r>
            <a:r>
              <a:rPr lang="en-GB" sz="1600" b="1" noProof="0">
                <a:solidFill>
                  <a:srgbClr val="D55E00"/>
                </a:solidFill>
              </a:rPr>
              <a:t>-0,86 pp</a:t>
            </a:r>
          </a:p>
          <a:p>
            <a:r>
              <a:rPr lang="en-GB" sz="1600" noProof="0"/>
              <a:t>Worst Agent Accuracy:	95,00%	 </a:t>
            </a:r>
            <a:r>
              <a:rPr lang="en-GB" sz="1600" b="1" noProof="0">
                <a:solidFill>
                  <a:srgbClr val="D55E00"/>
                </a:solidFill>
              </a:rPr>
              <a:t>-1,33  pp</a:t>
            </a:r>
          </a:p>
          <a:p>
            <a:r>
              <a:rPr lang="en-GB" sz="1600" noProof="0"/>
              <a:t>Mean Max Overlap:		17,9 mm	 </a:t>
            </a:r>
            <a:r>
              <a:rPr lang="en-GB" sz="1600" b="1" noProof="0">
                <a:solidFill>
                  <a:srgbClr val="D55E00"/>
                </a:solidFill>
              </a:rPr>
              <a:t>+8,0 mm</a:t>
            </a:r>
          </a:p>
          <a:p>
            <a:r>
              <a:rPr lang="en-GB" sz="1600" noProof="0"/>
              <a:t>Throughput:		8036 </a:t>
            </a:r>
            <a:r>
              <a:rPr lang="en-GB" sz="1600" noProof="0" err="1"/>
              <a:t>pph</a:t>
            </a:r>
            <a:r>
              <a:rPr lang="en-GB" sz="1600" noProof="0"/>
              <a:t>	 </a:t>
            </a:r>
            <a:r>
              <a:rPr lang="en-GB" sz="1600" b="1" noProof="0">
                <a:solidFill>
                  <a:srgbClr val="009E73"/>
                </a:solidFill>
              </a:rPr>
              <a:t>+9,0 </a:t>
            </a:r>
            <a:r>
              <a:rPr lang="en-GB" sz="1600" b="1" noProof="0" err="1">
                <a:solidFill>
                  <a:srgbClr val="009E73"/>
                </a:solidFill>
              </a:rPr>
              <a:t>pph</a:t>
            </a:r>
            <a:endParaRPr lang="en-GB" sz="1600" b="1" noProof="0">
              <a:solidFill>
                <a:srgbClr val="009E73"/>
              </a:solidFill>
            </a:endParaRPr>
          </a:p>
          <a:p>
            <a:endParaRPr lang="en-GB" sz="1600" b="1" noProof="0">
              <a:solidFill>
                <a:srgbClr val="D55E00"/>
              </a:solidFill>
            </a:endParaRPr>
          </a:p>
          <a:p>
            <a:r>
              <a:rPr lang="en-GB" sz="1600" noProof="0"/>
              <a:t>Rectangular dimensions randomly sampled within the nominal parcel-size bounds: </a:t>
            </a:r>
            <a:r>
              <a:rPr lang="en-GB" sz="1600" b="1" noProof="0"/>
              <a:t>[0.05, 0.40] m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B61A85E-0A3A-5801-B944-9DD68061969A}"/>
              </a:ext>
            </a:extLst>
          </p:cNvPr>
          <p:cNvSpPr txBox="1"/>
          <p:nvPr/>
        </p:nvSpPr>
        <p:spPr>
          <a:xfrm>
            <a:off x="334963" y="6244936"/>
            <a:ext cx="11522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noProof="0"/>
              <a:t>The policy is </a:t>
            </a:r>
            <a:r>
              <a:rPr lang="en-GB" sz="1600" b="1" noProof="0"/>
              <a:t>not strongly tied </a:t>
            </a:r>
            <a:r>
              <a:rPr lang="en-GB" sz="1600" noProof="0"/>
              <a:t>to the nominal </a:t>
            </a:r>
            <a:r>
              <a:rPr lang="en-GB" sz="1600" b="1" noProof="0"/>
              <a:t>square-parcel</a:t>
            </a:r>
            <a:r>
              <a:rPr lang="en-GB" sz="1600" noProof="0"/>
              <a:t> assumption.</a:t>
            </a:r>
          </a:p>
        </p:txBody>
      </p:sp>
      <p:pic>
        <p:nvPicPr>
          <p:cNvPr id="19" name="07_rectangular_random_seed1_ep1_acc100.00">
            <a:hlinkClick r:id="" action="ppaction://media"/>
            <a:extLst>
              <a:ext uri="{FF2B5EF4-FFF2-40B4-BE49-F238E27FC236}">
                <a16:creationId xmlns:a16="http://schemas.microsoft.com/office/drawing/2014/main" id="{40284393-E4D6-0CAF-E797-A08BFBF1174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23850" r="17610"/>
          <a:stretch>
            <a:fillRect/>
          </a:stretch>
        </p:blipFill>
        <p:spPr>
          <a:xfrm>
            <a:off x="7710055" y="1557338"/>
            <a:ext cx="3221181" cy="464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9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00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02_parcels_20_seed1_ep6_acc100.00">
            <a:hlinkClick r:id="" action="ppaction://media"/>
            <a:extLst>
              <a:ext uri="{FF2B5EF4-FFF2-40B4-BE49-F238E27FC236}">
                <a16:creationId xmlns:a16="http://schemas.microsoft.com/office/drawing/2014/main" id="{30845095-363F-6084-5249-7A451278BB1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25745" r="19911"/>
          <a:stretch>
            <a:fillRect/>
          </a:stretch>
        </p:blipFill>
        <p:spPr>
          <a:xfrm>
            <a:off x="7825187" y="1557338"/>
            <a:ext cx="2989351" cy="464040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5E41A949-A3C8-0B71-68DB-253F98E840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54" y="548957"/>
            <a:ext cx="1260000" cy="1260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CCF12D0-E56A-FD9C-209D-3FF587554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761" y="808073"/>
            <a:ext cx="5761036" cy="749265"/>
          </a:xfrm>
        </p:spPr>
        <p:txBody>
          <a:bodyPr/>
          <a:lstStyle/>
          <a:p>
            <a:r>
              <a:rPr lang="en-GB" sz="2400" noProof="0"/>
              <a:t>Increasing the total number of parcels did not collapse performance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5717E68-5ACE-609D-AC1C-07B9891D0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/>
              <a:t>15/07/2026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9F6973D-8E61-723C-8B7E-53F909904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PPO-Based Control of an Active Motion Surface for Parcel Singulation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D5C5AE4-F6E7-2103-79AA-5F3FD9B95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GB" noProof="0" smtClean="0"/>
              <a:pPr/>
              <a:t>14</a:t>
            </a:fld>
            <a:endParaRPr lang="en-GB" noProof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B7343FD-4784-BA85-6457-FE50EBF44401}"/>
              </a:ext>
            </a:extLst>
          </p:cNvPr>
          <p:cNvSpPr txBox="1"/>
          <p:nvPr/>
        </p:nvSpPr>
        <p:spPr>
          <a:xfrm>
            <a:off x="334962" y="2070966"/>
            <a:ext cx="576103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noProof="0">
                <a:solidFill>
                  <a:srgbClr val="586D8D"/>
                </a:solidFill>
              </a:rPr>
              <a:t>Nominal case</a:t>
            </a:r>
          </a:p>
          <a:p>
            <a:r>
              <a:rPr lang="en-GB" sz="1600" noProof="0"/>
              <a:t>Mean Final Accuracy&gt;5mm: 	98,28%</a:t>
            </a:r>
          </a:p>
          <a:p>
            <a:r>
              <a:rPr lang="en-GB" sz="1600" noProof="0"/>
              <a:t>Worst Agent Accuracy:	96,33%</a:t>
            </a:r>
          </a:p>
          <a:p>
            <a:r>
              <a:rPr lang="en-GB" sz="1600" noProof="0"/>
              <a:t>Mean Max Overlap:		9,9 mm</a:t>
            </a:r>
          </a:p>
          <a:p>
            <a:r>
              <a:rPr lang="en-GB" sz="1600" noProof="0"/>
              <a:t>Throughput:		8027 </a:t>
            </a:r>
            <a:r>
              <a:rPr lang="en-GB" sz="1600" noProof="0" err="1"/>
              <a:t>pph</a:t>
            </a:r>
            <a:endParaRPr lang="en-GB" sz="1600" noProof="0"/>
          </a:p>
          <a:p>
            <a:endParaRPr lang="en-GB" sz="1600" noProof="0"/>
          </a:p>
          <a:p>
            <a:r>
              <a:rPr lang="en-GB" sz="1600" b="1" noProof="0"/>
              <a:t>Parcels_20</a:t>
            </a:r>
          </a:p>
          <a:p>
            <a:r>
              <a:rPr lang="en-GB" sz="1600" noProof="0"/>
              <a:t>Mean Final Accuracy&gt;5mm: 	97,84%	 </a:t>
            </a:r>
            <a:r>
              <a:rPr lang="en-GB" sz="1600" b="1" noProof="0">
                <a:solidFill>
                  <a:srgbClr val="D55E00"/>
                </a:solidFill>
              </a:rPr>
              <a:t>-0,44 pp</a:t>
            </a:r>
          </a:p>
          <a:p>
            <a:r>
              <a:rPr lang="en-GB" sz="1600" noProof="0"/>
              <a:t>Worst Agent Accuracy:	95,84%	 </a:t>
            </a:r>
            <a:r>
              <a:rPr lang="en-GB" sz="1600" b="1" noProof="0">
                <a:solidFill>
                  <a:srgbClr val="D55E00"/>
                </a:solidFill>
              </a:rPr>
              <a:t>-0,49  pp</a:t>
            </a:r>
          </a:p>
          <a:p>
            <a:r>
              <a:rPr lang="en-GB" sz="1600" noProof="0"/>
              <a:t>Mean Max Overlap:		25,1 mm	 </a:t>
            </a:r>
            <a:r>
              <a:rPr lang="en-GB" sz="1600" b="1" noProof="0">
                <a:solidFill>
                  <a:srgbClr val="D55E00"/>
                </a:solidFill>
              </a:rPr>
              <a:t>+15,2 mm</a:t>
            </a:r>
          </a:p>
          <a:p>
            <a:r>
              <a:rPr lang="en-GB" sz="1600" noProof="0"/>
              <a:t>Throughput:		8738 </a:t>
            </a:r>
            <a:r>
              <a:rPr lang="en-GB" sz="1600" noProof="0" err="1"/>
              <a:t>pph</a:t>
            </a:r>
            <a:r>
              <a:rPr lang="en-GB" sz="1600" noProof="0"/>
              <a:t>	 </a:t>
            </a:r>
            <a:r>
              <a:rPr lang="en-GB" sz="1600" b="1" noProof="0">
                <a:solidFill>
                  <a:srgbClr val="009E73"/>
                </a:solidFill>
              </a:rPr>
              <a:t>+711 </a:t>
            </a:r>
            <a:r>
              <a:rPr lang="en-GB" sz="1600" b="1" noProof="0" err="1">
                <a:solidFill>
                  <a:srgbClr val="009E73"/>
                </a:solidFill>
              </a:rPr>
              <a:t>pph</a:t>
            </a:r>
            <a:endParaRPr lang="en-GB" sz="1600" b="1" noProof="0">
              <a:solidFill>
                <a:srgbClr val="009E73"/>
              </a:solidFill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B61A85E-0A3A-5801-B944-9DD68061969A}"/>
              </a:ext>
            </a:extLst>
          </p:cNvPr>
          <p:cNvSpPr txBox="1"/>
          <p:nvPr/>
        </p:nvSpPr>
        <p:spPr>
          <a:xfrm>
            <a:off x="334963" y="6244936"/>
            <a:ext cx="11522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noProof="0"/>
              <a:t>The policy </a:t>
            </a:r>
            <a:r>
              <a:rPr lang="en-GB" sz="1600" b="1" noProof="0"/>
              <a:t>scales</a:t>
            </a:r>
            <a:r>
              <a:rPr lang="en-GB" sz="1600" noProof="0"/>
              <a:t> </a:t>
            </a:r>
            <a:r>
              <a:rPr lang="en-GB" sz="1600" b="1" noProof="0"/>
              <a:t>well</a:t>
            </a:r>
            <a:r>
              <a:rPr lang="en-GB" sz="1600" noProof="0"/>
              <a:t> with the total number of parcels when the nominal pairwise generation structure is preserved.</a:t>
            </a:r>
          </a:p>
        </p:txBody>
      </p:sp>
    </p:spTree>
    <p:extLst>
      <p:ext uri="{BB962C8B-B14F-4D97-AF65-F5344CB8AC3E}">
        <p14:creationId xmlns:p14="http://schemas.microsoft.com/office/powerpoint/2010/main" val="3122688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125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01_batch3_12_seed270632_ep19_acc81.82">
            <a:hlinkClick r:id="" action="ppaction://media"/>
            <a:extLst>
              <a:ext uri="{FF2B5EF4-FFF2-40B4-BE49-F238E27FC236}">
                <a16:creationId xmlns:a16="http://schemas.microsoft.com/office/drawing/2014/main" id="{E6826776-1F27-2265-4CA9-4B93CF87DF2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24873" r="19527"/>
          <a:stretch>
            <a:fillRect/>
          </a:stretch>
        </p:blipFill>
        <p:spPr>
          <a:xfrm>
            <a:off x="7790639" y="1564661"/>
            <a:ext cx="3058445" cy="464040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A157F5FF-2001-E8F6-5183-5EEDAF2726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97" y="548957"/>
            <a:ext cx="1260000" cy="1260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CCF12D0-E56A-FD9C-209D-3FF587554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761" y="808073"/>
            <a:ext cx="5761036" cy="749265"/>
          </a:xfrm>
        </p:spPr>
        <p:txBody>
          <a:bodyPr/>
          <a:lstStyle/>
          <a:p>
            <a:r>
              <a:rPr lang="en-GB" sz="2400" noProof="0"/>
              <a:t>Three-parcel generation was the most severe stress condition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5717E68-5ACE-609D-AC1C-07B9891D0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/>
              <a:t>15/07/2026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9F6973D-8E61-723C-8B7E-53F909904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PPO-Based Control of an Active Motion Surface for Parcel Singulation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D5C5AE4-F6E7-2103-79AA-5F3FD9B95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GB" noProof="0" smtClean="0"/>
              <a:pPr/>
              <a:t>15</a:t>
            </a:fld>
            <a:endParaRPr lang="en-GB" noProof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B7343FD-4784-BA85-6457-FE50EBF44401}"/>
              </a:ext>
            </a:extLst>
          </p:cNvPr>
          <p:cNvSpPr txBox="1"/>
          <p:nvPr/>
        </p:nvSpPr>
        <p:spPr>
          <a:xfrm>
            <a:off x="334962" y="1821582"/>
            <a:ext cx="745567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noProof="0">
                <a:solidFill>
                  <a:srgbClr val="586D8D"/>
                </a:solidFill>
              </a:rPr>
              <a:t>Nominal case</a:t>
            </a:r>
          </a:p>
          <a:p>
            <a:r>
              <a:rPr lang="en-GB" sz="1600" noProof="0"/>
              <a:t>Mean Final Accuracy&gt;5mm: 	98,28%</a:t>
            </a:r>
          </a:p>
          <a:p>
            <a:r>
              <a:rPr lang="en-GB" sz="1600" noProof="0"/>
              <a:t>Worst Agent Accuracy:	96,33%</a:t>
            </a:r>
          </a:p>
          <a:p>
            <a:r>
              <a:rPr lang="en-GB" sz="1600" noProof="0"/>
              <a:t>Mean Max Overlap:		9,9 mm</a:t>
            </a:r>
          </a:p>
          <a:p>
            <a:r>
              <a:rPr lang="en-GB" sz="1600" noProof="0"/>
              <a:t>Throughput:		8027 </a:t>
            </a:r>
            <a:r>
              <a:rPr lang="en-GB" sz="1600" noProof="0" err="1"/>
              <a:t>pph</a:t>
            </a:r>
            <a:endParaRPr lang="en-GB" sz="1600" noProof="0"/>
          </a:p>
          <a:p>
            <a:endParaRPr lang="en-GB" sz="1600" noProof="0"/>
          </a:p>
          <a:p>
            <a:r>
              <a:rPr lang="en-GB" sz="1600" b="1" noProof="0"/>
              <a:t>Batch3_12</a:t>
            </a:r>
          </a:p>
          <a:p>
            <a:r>
              <a:rPr lang="en-GB" sz="1600" noProof="0"/>
              <a:t>Mean Final Accuracy&gt;5mm: 	78,34%	 </a:t>
            </a:r>
            <a:r>
              <a:rPr lang="en-GB" sz="1600" b="1" noProof="0">
                <a:solidFill>
                  <a:srgbClr val="D55E00"/>
                </a:solidFill>
              </a:rPr>
              <a:t>-19,94 pp</a:t>
            </a:r>
          </a:p>
          <a:p>
            <a:r>
              <a:rPr lang="en-GB" sz="1600" noProof="0"/>
              <a:t>Worst Agent Accuracy:	72,00%	 </a:t>
            </a:r>
            <a:r>
              <a:rPr lang="en-GB" sz="1600" b="1" noProof="0">
                <a:solidFill>
                  <a:srgbClr val="D55E00"/>
                </a:solidFill>
              </a:rPr>
              <a:t>-24,33  pp</a:t>
            </a:r>
          </a:p>
          <a:p>
            <a:r>
              <a:rPr lang="en-GB" sz="1600" noProof="0"/>
              <a:t>Mean Max Overlap:		112,8 mm	 </a:t>
            </a:r>
            <a:r>
              <a:rPr lang="en-GB" sz="1600" b="1" noProof="0">
                <a:solidFill>
                  <a:srgbClr val="D55E00"/>
                </a:solidFill>
              </a:rPr>
              <a:t>+102,9 mm</a:t>
            </a:r>
          </a:p>
          <a:p>
            <a:r>
              <a:rPr lang="en-GB" sz="1600" noProof="0"/>
              <a:t>Throughput:		11481 </a:t>
            </a:r>
            <a:r>
              <a:rPr lang="en-GB" sz="1600" noProof="0" err="1"/>
              <a:t>pph</a:t>
            </a:r>
            <a:r>
              <a:rPr lang="en-GB" sz="1600" noProof="0"/>
              <a:t>	 </a:t>
            </a:r>
            <a:r>
              <a:rPr lang="en-GB" sz="1600" b="1" noProof="0">
                <a:solidFill>
                  <a:srgbClr val="009E73"/>
                </a:solidFill>
              </a:rPr>
              <a:t>+3454 </a:t>
            </a:r>
            <a:r>
              <a:rPr lang="en-GB" sz="1600" b="1" noProof="0" err="1">
                <a:solidFill>
                  <a:srgbClr val="009E73"/>
                </a:solidFill>
              </a:rPr>
              <a:t>pph</a:t>
            </a:r>
            <a:endParaRPr lang="en-GB" sz="1600" b="1" noProof="0">
              <a:solidFill>
                <a:srgbClr val="009E73"/>
              </a:solidFill>
            </a:endParaRPr>
          </a:p>
          <a:p>
            <a:endParaRPr lang="en-GB" sz="1600" b="1" noProof="0">
              <a:solidFill>
                <a:srgbClr val="009E73"/>
              </a:solidFill>
            </a:endParaRPr>
          </a:p>
          <a:p>
            <a:r>
              <a:rPr lang="en-GB" sz="1600" noProof="0"/>
              <a:t>At each generation event, 3 parcels enter the system in a </a:t>
            </a:r>
            <a:r>
              <a:rPr lang="en-GB" sz="1600" b="1" noProof="0"/>
              <a:t>left-</a:t>
            </a:r>
            <a:r>
              <a:rPr lang="en-GB" sz="1600" b="1" noProof="0" err="1"/>
              <a:t>center</a:t>
            </a:r>
            <a:r>
              <a:rPr lang="en-GB" sz="1600" b="1" noProof="0"/>
              <a:t>-right</a:t>
            </a:r>
            <a:r>
              <a:rPr lang="en-GB" sz="1600" noProof="0"/>
              <a:t> </a:t>
            </a:r>
            <a:r>
              <a:rPr lang="en-GB" sz="1600" b="1" noProof="0"/>
              <a:t>configuration</a:t>
            </a:r>
            <a:r>
              <a:rPr lang="en-GB" sz="1600" noProof="0"/>
              <a:t>. To avoid artificial initial overlaps and preserve AMS-grid compatibility, the upper parcel-size bound was reduced to </a:t>
            </a:r>
            <a:r>
              <a:rPr lang="en-GB" sz="1600" b="1" noProof="0"/>
              <a:t>0.30 m</a:t>
            </a:r>
            <a:r>
              <a:rPr lang="en-GB" sz="1600" noProof="0"/>
              <a:t>. </a:t>
            </a:r>
          </a:p>
          <a:p>
            <a:r>
              <a:rPr lang="en-GB" sz="1600" noProof="0"/>
              <a:t>The number of parcels per episode was set to 12, corresponding to </a:t>
            </a:r>
            <a:r>
              <a:rPr lang="en-GB" sz="1600" b="1" noProof="0"/>
              <a:t>4 complete batches</a:t>
            </a:r>
            <a:r>
              <a:rPr lang="en-GB" sz="1600" noProof="0"/>
              <a:t>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B61A85E-0A3A-5801-B944-9DD68061969A}"/>
              </a:ext>
            </a:extLst>
          </p:cNvPr>
          <p:cNvSpPr txBox="1"/>
          <p:nvPr/>
        </p:nvSpPr>
        <p:spPr>
          <a:xfrm>
            <a:off x="334963" y="6244936"/>
            <a:ext cx="11522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noProof="0"/>
              <a:t>The main difficulty is not only temporal </a:t>
            </a:r>
            <a:r>
              <a:rPr lang="en-GB" sz="1600" b="1" noProof="0"/>
              <a:t>inflow rate</a:t>
            </a:r>
            <a:r>
              <a:rPr lang="en-GB" sz="1600" noProof="0"/>
              <a:t>, but also </a:t>
            </a:r>
            <a:r>
              <a:rPr lang="en-GB" sz="1600" b="1" noProof="0"/>
              <a:t>simultaneous spatial crowding </a:t>
            </a:r>
            <a:r>
              <a:rPr lang="en-GB" sz="1600" noProof="0"/>
              <a:t>at generation.</a:t>
            </a:r>
          </a:p>
        </p:txBody>
      </p:sp>
    </p:spTree>
    <p:extLst>
      <p:ext uri="{BB962C8B-B14F-4D97-AF65-F5344CB8AC3E}">
        <p14:creationId xmlns:p14="http://schemas.microsoft.com/office/powerpoint/2010/main" val="3392666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25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AFDD6D-A407-6F07-D1AD-0B439A421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6471081" cy="749265"/>
          </a:xfrm>
        </p:spPr>
        <p:txBody>
          <a:bodyPr/>
          <a:lstStyle/>
          <a:p>
            <a:r>
              <a:rPr lang="en-GB" sz="2400" noProof="0"/>
              <a:t>Final outcome: strong nominal policy, clear robustness target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8FA6FF2-D601-B1D1-2C0F-CEB8DD500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/>
              <a:t>15/07/2026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D0316F3-9092-C49D-1AD7-25E89EFB8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PPO-Based Control of an Active Motion Surface for Parcel Singulation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3676A93-63AC-91C6-5EB0-E9FCAD71F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GB" noProof="0" smtClean="0"/>
              <a:pPr/>
              <a:t>16</a:t>
            </a:fld>
            <a:endParaRPr lang="en-GB" noProof="0"/>
          </a:p>
        </p:txBody>
      </p:sp>
      <p:sp>
        <p:nvSpPr>
          <p:cNvPr id="7" name="Segnaposto testo 5">
            <a:extLst>
              <a:ext uri="{FF2B5EF4-FFF2-40B4-BE49-F238E27FC236}">
                <a16:creationId xmlns:a16="http://schemas.microsoft.com/office/drawing/2014/main" id="{F5E2B7CD-7B4E-F8F0-0AE2-85675731B618}"/>
              </a:ext>
            </a:extLst>
          </p:cNvPr>
          <p:cNvSpPr txBox="1">
            <a:spLocks/>
          </p:cNvSpPr>
          <p:nvPr/>
        </p:nvSpPr>
        <p:spPr>
          <a:xfrm>
            <a:off x="6197239" y="2060574"/>
            <a:ext cx="5659799" cy="4429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600" noProof="0"/>
          </a:p>
        </p:txBody>
      </p:sp>
      <p:grpSp>
        <p:nvGrpSpPr>
          <p:cNvPr id="36" name="Gruppo 35">
            <a:extLst>
              <a:ext uri="{FF2B5EF4-FFF2-40B4-BE49-F238E27FC236}">
                <a16:creationId xmlns:a16="http://schemas.microsoft.com/office/drawing/2014/main" id="{69699492-4CA6-1F28-A80A-6BB493CFF30F}"/>
              </a:ext>
            </a:extLst>
          </p:cNvPr>
          <p:cNvGrpSpPr/>
          <p:nvPr/>
        </p:nvGrpSpPr>
        <p:grpSpPr>
          <a:xfrm>
            <a:off x="334963" y="2421087"/>
            <a:ext cx="3810351" cy="2147742"/>
            <a:chOff x="334963" y="2060576"/>
            <a:chExt cx="3960000" cy="2147742"/>
          </a:xfrm>
        </p:grpSpPr>
        <p:sp>
          <p:nvSpPr>
            <p:cNvPr id="11" name="Rettangolo con angoli arrotondati 10">
              <a:extLst>
                <a:ext uri="{FF2B5EF4-FFF2-40B4-BE49-F238E27FC236}">
                  <a16:creationId xmlns:a16="http://schemas.microsoft.com/office/drawing/2014/main" id="{1B96CA39-8D2D-253D-3D43-3CDADED2E2BF}"/>
                </a:ext>
              </a:extLst>
            </p:cNvPr>
            <p:cNvSpPr/>
            <p:nvPr/>
          </p:nvSpPr>
          <p:spPr>
            <a:xfrm>
              <a:off x="334963" y="2060576"/>
              <a:ext cx="3960000" cy="2147742"/>
            </a:xfrm>
            <a:prstGeom prst="roundRect">
              <a:avLst/>
            </a:prstGeom>
            <a:solidFill>
              <a:srgbClr val="EAF3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8EB36EB1-7FF7-F1A0-4451-AA7EF166ED6D}"/>
                </a:ext>
              </a:extLst>
            </p:cNvPr>
            <p:cNvSpPr txBox="1"/>
            <p:nvPr/>
          </p:nvSpPr>
          <p:spPr>
            <a:xfrm>
              <a:off x="445323" y="2820908"/>
              <a:ext cx="3741388" cy="12311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600" noProof="0"/>
                <a:t>• Environment, reward, and physical KPIs were verified before final training.</a:t>
              </a:r>
            </a:p>
            <a:p>
              <a:endParaRPr lang="en-GB" sz="1600" noProof="0"/>
            </a:p>
            <a:p>
              <a:r>
                <a:rPr lang="en-GB" sz="1600" noProof="0"/>
                <a:t>• AverageReward was used only as a training diagnostic.</a:t>
              </a:r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89DF8427-D4D2-AD88-AA0A-507E7F899C65}"/>
                </a:ext>
              </a:extLst>
            </p:cNvPr>
            <p:cNvSpPr txBox="1"/>
            <p:nvPr/>
          </p:nvSpPr>
          <p:spPr>
            <a:xfrm>
              <a:off x="990122" y="2202764"/>
              <a:ext cx="26937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noProof="0"/>
                <a:t>Validated formulation</a:t>
              </a:r>
            </a:p>
          </p:txBody>
        </p:sp>
      </p:grp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793F04A0-DB5B-31BC-097C-6FD98A0F5BB7}"/>
              </a:ext>
            </a:extLst>
          </p:cNvPr>
          <p:cNvGrpSpPr/>
          <p:nvPr/>
        </p:nvGrpSpPr>
        <p:grpSpPr>
          <a:xfrm>
            <a:off x="4205364" y="2421087"/>
            <a:ext cx="3808800" cy="2147742"/>
            <a:chOff x="334963" y="4321064"/>
            <a:chExt cx="3960000" cy="2147742"/>
          </a:xfrm>
          <a:solidFill>
            <a:srgbClr val="D2D7DF"/>
          </a:solidFill>
        </p:grpSpPr>
        <p:sp>
          <p:nvSpPr>
            <p:cNvPr id="28" name="Rettangolo con angoli arrotondati 27">
              <a:extLst>
                <a:ext uri="{FF2B5EF4-FFF2-40B4-BE49-F238E27FC236}">
                  <a16:creationId xmlns:a16="http://schemas.microsoft.com/office/drawing/2014/main" id="{7C95E139-3006-2ECA-7382-6F592B2931CC}"/>
                </a:ext>
              </a:extLst>
            </p:cNvPr>
            <p:cNvSpPr/>
            <p:nvPr/>
          </p:nvSpPr>
          <p:spPr>
            <a:xfrm>
              <a:off x="334963" y="4321064"/>
              <a:ext cx="3960000" cy="214774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29" name="CasellaDiTesto 28">
              <a:extLst>
                <a:ext uri="{FF2B5EF4-FFF2-40B4-BE49-F238E27FC236}">
                  <a16:creationId xmlns:a16="http://schemas.microsoft.com/office/drawing/2014/main" id="{50FBC906-91E5-CE01-947D-0BE82CF46E5D}"/>
                </a:ext>
              </a:extLst>
            </p:cNvPr>
            <p:cNvSpPr txBox="1"/>
            <p:nvPr/>
          </p:nvSpPr>
          <p:spPr>
            <a:xfrm>
              <a:off x="512141" y="5049548"/>
              <a:ext cx="3605645" cy="1231106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600" noProof="0"/>
                <a:t>• BO improved PPO over the reference baseline. </a:t>
              </a:r>
            </a:p>
            <a:p>
              <a:endParaRPr lang="en-GB" sz="1600" noProof="0"/>
            </a:p>
            <a:p>
              <a:r>
                <a:rPr lang="en-GB" sz="1600" noProof="0"/>
                <a:t>• BO_014 achieved strong nominal and multiseed performance.</a:t>
              </a:r>
            </a:p>
          </p:txBody>
        </p:sp>
        <p:sp>
          <p:nvSpPr>
            <p:cNvPr id="30" name="CasellaDiTesto 29">
              <a:extLst>
                <a:ext uri="{FF2B5EF4-FFF2-40B4-BE49-F238E27FC236}">
                  <a16:creationId xmlns:a16="http://schemas.microsoft.com/office/drawing/2014/main" id="{19C545EF-3272-5F38-1FB0-B447808AD4E0}"/>
                </a:ext>
              </a:extLst>
            </p:cNvPr>
            <p:cNvSpPr txBox="1"/>
            <p:nvPr/>
          </p:nvSpPr>
          <p:spPr>
            <a:xfrm>
              <a:off x="990123" y="4463252"/>
              <a:ext cx="2649681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noProof="0"/>
                <a:t>Selected policy</a:t>
              </a:r>
            </a:p>
          </p:txBody>
        </p:sp>
      </p:grp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E7DD16EC-511A-B890-605D-3776B3DC4018}"/>
              </a:ext>
            </a:extLst>
          </p:cNvPr>
          <p:cNvGrpSpPr/>
          <p:nvPr/>
        </p:nvGrpSpPr>
        <p:grpSpPr>
          <a:xfrm>
            <a:off x="8074215" y="2421087"/>
            <a:ext cx="3782822" cy="2147742"/>
            <a:chOff x="5373164" y="1882022"/>
            <a:chExt cx="3960000" cy="2147742"/>
          </a:xfrm>
          <a:solidFill>
            <a:srgbClr val="E3E6EB"/>
          </a:solidFill>
        </p:grpSpPr>
        <p:sp>
          <p:nvSpPr>
            <p:cNvPr id="31" name="Rettangolo con angoli arrotondati 30">
              <a:extLst>
                <a:ext uri="{FF2B5EF4-FFF2-40B4-BE49-F238E27FC236}">
                  <a16:creationId xmlns:a16="http://schemas.microsoft.com/office/drawing/2014/main" id="{ED994EC0-6063-D2DC-1B43-A6F5421B8FDF}"/>
                </a:ext>
              </a:extLst>
            </p:cNvPr>
            <p:cNvSpPr/>
            <p:nvPr/>
          </p:nvSpPr>
          <p:spPr>
            <a:xfrm>
              <a:off x="5373164" y="1882022"/>
              <a:ext cx="3960000" cy="214774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32" name="CasellaDiTesto 31">
              <a:extLst>
                <a:ext uri="{FF2B5EF4-FFF2-40B4-BE49-F238E27FC236}">
                  <a16:creationId xmlns:a16="http://schemas.microsoft.com/office/drawing/2014/main" id="{0FC0021B-FE1D-9BA2-EE66-9F17176CCD30}"/>
                </a:ext>
              </a:extLst>
            </p:cNvPr>
            <p:cNvSpPr txBox="1"/>
            <p:nvPr/>
          </p:nvSpPr>
          <p:spPr>
            <a:xfrm>
              <a:off x="5550342" y="2610506"/>
              <a:ext cx="3605645" cy="1231106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600" noProof="0"/>
                <a:t>• Shape and parcel-count variations were handled well. </a:t>
              </a:r>
            </a:p>
            <a:p>
              <a:endParaRPr lang="en-GB" sz="1600" noProof="0"/>
            </a:p>
            <a:p>
              <a:r>
                <a:rPr lang="en-GB" sz="1600" noProof="0"/>
                <a:t>• Dense and simultaneous inflow remained the main robustness limit.</a:t>
              </a:r>
            </a:p>
          </p:txBody>
        </p:sp>
        <p:sp>
          <p:nvSpPr>
            <p:cNvPr id="33" name="CasellaDiTesto 32">
              <a:extLst>
                <a:ext uri="{FF2B5EF4-FFF2-40B4-BE49-F238E27FC236}">
                  <a16:creationId xmlns:a16="http://schemas.microsoft.com/office/drawing/2014/main" id="{86FAB0FA-E100-498A-A1B0-6018BFB0876F}"/>
                </a:ext>
              </a:extLst>
            </p:cNvPr>
            <p:cNvSpPr txBox="1"/>
            <p:nvPr/>
          </p:nvSpPr>
          <p:spPr>
            <a:xfrm>
              <a:off x="6028324" y="2024210"/>
              <a:ext cx="2649681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noProof="0"/>
                <a:t>Observed limitation</a:t>
              </a:r>
            </a:p>
          </p:txBody>
        </p:sp>
      </p:grp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2C011AF7-2455-0F8C-91B0-DC0CFB6AD99A}"/>
              </a:ext>
            </a:extLst>
          </p:cNvPr>
          <p:cNvSpPr txBox="1"/>
          <p:nvPr/>
        </p:nvSpPr>
        <p:spPr>
          <a:xfrm>
            <a:off x="334963" y="4901510"/>
            <a:ext cx="11522075" cy="578882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GB" b="1" noProof="0"/>
              <a:t>Next steps</a:t>
            </a:r>
          </a:p>
          <a:p>
            <a:pPr algn="ctr"/>
            <a:r>
              <a:rPr lang="en-GB" sz="1600" noProof="0"/>
              <a:t>Mixed high-density training · Crowding-aware observation · Congestion-aware reward terms · Curriculum learning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A09B439A-BF3E-5573-96DE-8BBDE008F740}"/>
              </a:ext>
            </a:extLst>
          </p:cNvPr>
          <p:cNvSpPr txBox="1"/>
          <p:nvPr/>
        </p:nvSpPr>
        <p:spPr>
          <a:xfrm>
            <a:off x="334963" y="6030558"/>
            <a:ext cx="11522075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GB" sz="1600" noProof="0"/>
              <a:t>Future work should target robustness to </a:t>
            </a:r>
            <a:r>
              <a:rPr lang="en-GB" sz="1600" b="1" noProof="0"/>
              <a:t>dense</a:t>
            </a:r>
            <a:r>
              <a:rPr lang="en-GB" sz="1600" noProof="0"/>
              <a:t> </a:t>
            </a:r>
            <a:r>
              <a:rPr lang="en-GB" sz="1600" b="1" noProof="0"/>
              <a:t>inflow</a:t>
            </a:r>
            <a:r>
              <a:rPr lang="en-GB" sz="1600" noProof="0"/>
              <a:t>, where the current policy shows its clearest </a:t>
            </a:r>
            <a:r>
              <a:rPr lang="en-GB" sz="1600" b="1" noProof="0"/>
              <a:t>operating</a:t>
            </a:r>
            <a:r>
              <a:rPr lang="en-GB" sz="1600" noProof="0"/>
              <a:t> </a:t>
            </a:r>
            <a:r>
              <a:rPr lang="en-GB" sz="1600" b="1" noProof="0"/>
              <a:t>limit</a:t>
            </a:r>
            <a:r>
              <a:rPr lang="en-GB" sz="1600" noProof="0"/>
              <a:t>.</a:t>
            </a:r>
            <a:endParaRPr lang="en-GB" sz="1400" noProof="0"/>
          </a:p>
        </p:txBody>
      </p:sp>
      <p:pic>
        <p:nvPicPr>
          <p:cNvPr id="40" name="Elemento grafico 39" descr="Badge Tick1 con riempimento a tinta unita">
            <a:extLst>
              <a:ext uri="{FF2B5EF4-FFF2-40B4-BE49-F238E27FC236}">
                <a16:creationId xmlns:a16="http://schemas.microsoft.com/office/drawing/2014/main" id="{4DF8EF81-8E3D-FE23-00E1-24D7EDE512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1363" y="1790574"/>
            <a:ext cx="540000" cy="540000"/>
          </a:xfrm>
          <a:prstGeom prst="rect">
            <a:avLst/>
          </a:prstGeom>
        </p:spPr>
      </p:pic>
      <p:pic>
        <p:nvPicPr>
          <p:cNvPr id="42" name="Elemento grafico 41" descr="Trofeo con riempimento a tinta unita">
            <a:extLst>
              <a:ext uri="{FF2B5EF4-FFF2-40B4-BE49-F238E27FC236}">
                <a16:creationId xmlns:a16="http://schemas.microsoft.com/office/drawing/2014/main" id="{F69CCF6E-96FB-DB9A-3E7D-B7F62CF50E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6000" y="1790575"/>
            <a:ext cx="540000" cy="540000"/>
          </a:xfrm>
          <a:prstGeom prst="rect">
            <a:avLst/>
          </a:prstGeom>
        </p:spPr>
      </p:pic>
      <p:pic>
        <p:nvPicPr>
          <p:cNvPr id="44" name="Elemento grafico 43" descr="Avviso con riempimento a tinta unita">
            <a:extLst>
              <a:ext uri="{FF2B5EF4-FFF2-40B4-BE49-F238E27FC236}">
                <a16:creationId xmlns:a16="http://schemas.microsoft.com/office/drawing/2014/main" id="{AD871481-94F7-1E8B-4927-37A2B2C758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60637" y="1772358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20370"/>
      </p:ext>
    </p:extLst>
  </p:cSld>
  <p:clrMapOvr>
    <a:masterClrMapping/>
  </p:clrMapOvr>
</p:sld>
</file>

<file path=ppt/theme/theme1.xml><?xml version="1.0" encoding="utf-8"?>
<a:theme xmlns:a="http://schemas.openxmlformats.org/drawingml/2006/main" name="Interni">
  <a:themeElements>
    <a:clrScheme name="Personalizzato 4">
      <a:dk1>
        <a:srgbClr val="000000"/>
      </a:dk1>
      <a:lt1>
        <a:srgbClr val="FFFFFF"/>
      </a:lt1>
      <a:dk2>
        <a:srgbClr val="102C53"/>
      </a:dk2>
      <a:lt2>
        <a:srgbClr val="FFFFFF"/>
      </a:lt2>
      <a:accent1>
        <a:srgbClr val="5C9BE0"/>
      </a:accent1>
      <a:accent2>
        <a:srgbClr val="9DC3EC"/>
      </a:accent2>
      <a:accent3>
        <a:srgbClr val="BDD7F2"/>
      </a:accent3>
      <a:accent4>
        <a:srgbClr val="DEEBF8"/>
      </a:accent4>
      <a:accent5>
        <a:srgbClr val="2572C7"/>
      </a:accent5>
      <a:accent6>
        <a:srgbClr val="F3F3F3"/>
      </a:accent6>
      <a:hlink>
        <a:srgbClr val="797979"/>
      </a:hlink>
      <a:folHlink>
        <a:srgbClr val="797979"/>
      </a:folHlink>
    </a:clrScheme>
    <a:fontScheme name="caratteri tema manrope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manrope_2024_regular" id="{AF503DD6-45CC-4FD9-A316-7E3073ACAABC}" vid="{376A186E-ACA5-4725-B103-CB5852E20BBA}"/>
    </a:ext>
  </a:extLst>
</a:theme>
</file>

<file path=ppt/theme/theme2.xml><?xml version="1.0" encoding="utf-8"?>
<a:theme xmlns:a="http://schemas.openxmlformats.org/drawingml/2006/main" name="Cover">
  <a:themeElements>
    <a:clrScheme name="DMECC">
      <a:dk1>
        <a:srgbClr val="000000"/>
      </a:dk1>
      <a:lt1>
        <a:srgbClr val="FFFFFF"/>
      </a:lt1>
      <a:dk2>
        <a:srgbClr val="102C53"/>
      </a:dk2>
      <a:lt2>
        <a:srgbClr val="FFFFFF"/>
      </a:lt2>
      <a:accent1>
        <a:srgbClr val="5C9BE0"/>
      </a:accent1>
      <a:accent2>
        <a:srgbClr val="9DC3EC"/>
      </a:accent2>
      <a:accent3>
        <a:srgbClr val="BDD7F2"/>
      </a:accent3>
      <a:accent4>
        <a:srgbClr val="DEEBF8"/>
      </a:accent4>
      <a:accent5>
        <a:srgbClr val="2572C7"/>
      </a:accent5>
      <a:accent6>
        <a:srgbClr val="F3F3F3"/>
      </a:accent6>
      <a:hlink>
        <a:srgbClr val="0000FF"/>
      </a:hlink>
      <a:folHlink>
        <a:srgbClr val="28C8F0"/>
      </a:folHlink>
    </a:clrScheme>
    <a:fontScheme name="caratteri tema manrope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manrope_2024_regular" id="{AF503DD6-45CC-4FD9-A316-7E3073ACAABC}" vid="{376A186E-ACA5-4725-B103-CB5852E20BB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ppt_manrope_2024_regular</Template>
  <TotalTime>3</TotalTime>
  <Words>2151</Words>
  <Application>Microsoft Office PowerPoint</Application>
  <PresentationFormat>Widescreen</PresentationFormat>
  <Paragraphs>365</Paragraphs>
  <Slides>16</Slides>
  <Notes>16</Notes>
  <HiddenSlides>0</HiddenSlides>
  <MMClips>8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16</vt:i4>
      </vt:variant>
    </vt:vector>
  </HeadingPairs>
  <TitlesOfParts>
    <vt:vector size="23" baseType="lpstr">
      <vt:lpstr>Cambria Math</vt:lpstr>
      <vt:lpstr>Arial</vt:lpstr>
      <vt:lpstr>Calibri</vt:lpstr>
      <vt:lpstr>Manrope</vt:lpstr>
      <vt:lpstr>Symbol</vt:lpstr>
      <vt:lpstr>Interni</vt:lpstr>
      <vt:lpstr>Cover</vt:lpstr>
      <vt:lpstr>PPO-Based Control of an Active Motion Surface for Parcel Singulation</vt:lpstr>
      <vt:lpstr>Contents</vt:lpstr>
      <vt:lpstr>PPO acts on the AMS; singulation is evaluated downstream</vt:lpstr>
      <vt:lpstr>The PPO agent observes a normalized local representation of the AMS</vt:lpstr>
      <vt:lpstr>The training reward[*] promotes downstream pairwise separation</vt:lpstr>
      <vt:lpstr>Final physical performance is evaluated using parcel-edge gaps</vt:lpstr>
      <vt:lpstr>The 2000-episode PPO baseline was effective but still improvable</vt:lpstr>
      <vt:lpstr>Bayesian Optimization candidates outperformed the reference baseline</vt:lpstr>
      <vt:lpstr>Multiseed validation confirmed the robustness of BO_014</vt:lpstr>
      <vt:lpstr>Non-nominal stress tests evaluated the operating limits of BO_014</vt:lpstr>
      <vt:lpstr>Reduced treadmill velocity caused moderate degradation</vt:lpstr>
      <vt:lpstr>Higher generation frequency revealed a temporal inflow limit</vt:lpstr>
      <vt:lpstr>BO_014 generalized well to rectangular parcel shapes</vt:lpstr>
      <vt:lpstr>Increasing the total number of parcels did not collapse performance</vt:lpstr>
      <vt:lpstr>Three-parcel generation was the most severe stress condition</vt:lpstr>
      <vt:lpstr>Final outcome: strong nominal policy, clear robustness target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Camilla Ghironi</dc:creator>
  <cp:lastModifiedBy>Marco Davi'</cp:lastModifiedBy>
  <cp:revision>1</cp:revision>
  <dcterms:created xsi:type="dcterms:W3CDTF">2024-06-28T15:03:44Z</dcterms:created>
  <dcterms:modified xsi:type="dcterms:W3CDTF">2026-07-14T12:13:17Z</dcterms:modified>
</cp:coreProperties>
</file>